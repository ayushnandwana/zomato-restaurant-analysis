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8" r:id="rId22"/>
    <p:sldId id="277" r:id="rId23"/>
    <p:sldId id="279" r:id="rId24"/>
    <p:sldId id="280" r:id="rId25"/>
    <p:sldId id="281" r:id="rId26"/>
    <p:sldId id="282" r:id="rId27"/>
    <p:sldId id="283" r:id="rId28"/>
    <p:sldId id="285" r:id="rId29"/>
    <p:sldId id="284"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B76994-8CC9-4690-9606-446183856FDC}" v="541" dt="2025-09-20T09:55:07.242"/>
    <p1510:client id="{9A797F3A-F8B8-40FB-B687-330C060D8E88}" v="581" dt="2025-09-20T11:15:26.0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0762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52806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1635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807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355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52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610629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0642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067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400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fld id="{1C8322F6-1C60-46CF-968C-BC20E470F443}" type="datetimeFigureOut">
              <a:rPr lang="en-US" smtClean="0"/>
              <a:t>9/20/2025</a:t>
            </a:fld>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4780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fld id="{1C8322F6-1C60-46CF-968C-BC20E470F443}" type="datetimeFigureOut">
              <a:rPr lang="en-US" smtClean="0"/>
              <a:t>9/20/2025</a:t>
            </a:fld>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664972"/>
      </p:ext>
    </p:extLst>
  </p:cSld>
  <p:clrMap bg1="lt1" tx1="dk1" bg2="lt2" tx2="dk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4001" r:id="rId6"/>
    <p:sldLayoutId id="2147483997" r:id="rId7"/>
    <p:sldLayoutId id="2147483998" r:id="rId8"/>
    <p:sldLayoutId id="2147483999" r:id="rId9"/>
    <p:sldLayoutId id="2147484000" r:id="rId10"/>
    <p:sldLayoutId id="2147484002" r:id="rId11"/>
  </p:sldLayoutIdLst>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ABCAB27-8410-4192-830F-23D67F78F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1208" y="822960"/>
            <a:ext cx="6057899" cy="5015169"/>
          </a:xfrm>
        </p:spPr>
        <p:txBody>
          <a:bodyPr>
            <a:normAutofit/>
          </a:bodyPr>
          <a:lstStyle/>
          <a:p>
            <a:r>
              <a:rPr lang="en-US" b="1">
                <a:latin typeface="Century Gothic"/>
              </a:rPr>
              <a:t>ZOMATO RESTAURANT ANALYSIS</a:t>
            </a:r>
            <a:endParaRPr lang="en-US"/>
          </a:p>
          <a:p>
            <a:br>
              <a:rPr lang="en-US"/>
            </a:br>
            <a:endParaRPr lang="en-US"/>
          </a:p>
        </p:txBody>
      </p:sp>
      <p:sp>
        <p:nvSpPr>
          <p:cNvPr id="3" name="Subtitle 2"/>
          <p:cNvSpPr>
            <a:spLocks noGrp="1"/>
          </p:cNvSpPr>
          <p:nvPr>
            <p:ph type="subTitle" idx="1"/>
          </p:nvPr>
        </p:nvSpPr>
        <p:spPr>
          <a:xfrm>
            <a:off x="9237307" y="3003642"/>
            <a:ext cx="2394005" cy="2900274"/>
          </a:xfrm>
        </p:spPr>
        <p:txBody>
          <a:bodyPr>
            <a:normAutofit/>
          </a:bodyPr>
          <a:lstStyle/>
          <a:p>
            <a:r>
              <a:rPr lang="en-US"/>
              <a:t>By Ayush Nandwana</a:t>
            </a:r>
          </a:p>
        </p:txBody>
      </p:sp>
      <p:cxnSp>
        <p:nvCxnSpPr>
          <p:cNvPr id="27" name="Straight Connector 26">
            <a:extLst>
              <a:ext uri="{FF2B5EF4-FFF2-40B4-BE49-F238E27FC236}">
                <a16:creationId xmlns:a16="http://schemas.microsoft.com/office/drawing/2014/main" id="{C21F0155-D64B-49BB-A143-6F755ADEA4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7175" y="571500"/>
            <a:ext cx="110547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67CB876-4BEB-4003-BC32-73DF9FB6C6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7300" y="571500"/>
            <a:ext cx="0" cy="5712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B1665DA-C073-4CA2-8511-2C9D9D1787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7176" y="6286500"/>
            <a:ext cx="11043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15F38-E8EF-E6B8-AD50-3C011246DC31}"/>
              </a:ext>
            </a:extLst>
          </p:cNvPr>
          <p:cNvSpPr>
            <a:spLocks noGrp="1"/>
          </p:cNvSpPr>
          <p:nvPr>
            <p:ph type="title"/>
          </p:nvPr>
        </p:nvSpPr>
        <p:spPr>
          <a:xfrm>
            <a:off x="577746" y="730160"/>
            <a:ext cx="11049000" cy="1084101"/>
          </a:xfrm>
        </p:spPr>
        <p:txBody>
          <a:bodyPr>
            <a:normAutofit fontScale="90000"/>
          </a:bodyPr>
          <a:lstStyle/>
          <a:p>
            <a:endParaRPr lang="en-US" b="1" dirty="0">
              <a:latin typeface="Century Gothic"/>
              <a:ea typeface="Batang"/>
            </a:endParaRPr>
          </a:p>
          <a:p>
            <a:r>
              <a:rPr lang="en-US" b="1" dirty="0">
                <a:latin typeface="Century Gothic"/>
              </a:rPr>
              <a:t>NTRODUCTION AND OBJECTIVES</a:t>
            </a:r>
            <a:br>
              <a:rPr lang="en-US" dirty="0"/>
            </a:br>
            <a:endParaRPr lang="en-US"/>
          </a:p>
        </p:txBody>
      </p:sp>
      <p:sp>
        <p:nvSpPr>
          <p:cNvPr id="3" name="Content Placeholder 2">
            <a:extLst>
              <a:ext uri="{FF2B5EF4-FFF2-40B4-BE49-F238E27FC236}">
                <a16:creationId xmlns:a16="http://schemas.microsoft.com/office/drawing/2014/main" id="{D0C860EF-EF13-45B5-C3D1-EA68F677F308}"/>
              </a:ext>
            </a:extLst>
          </p:cNvPr>
          <p:cNvSpPr>
            <a:spLocks noGrp="1"/>
          </p:cNvSpPr>
          <p:nvPr>
            <p:ph idx="1"/>
          </p:nvPr>
        </p:nvSpPr>
        <p:spPr/>
        <p:txBody>
          <a:bodyPr vert="horz" lIns="91440" tIns="45720" rIns="91440" bIns="45720" rtlCol="0" anchor="t">
            <a:normAutofit fontScale="92500" lnSpcReduction="20000"/>
          </a:bodyPr>
          <a:lstStyle/>
          <a:p>
            <a:pPr>
              <a:buFont typeface="Arial"/>
              <a:buChar char="•"/>
            </a:pPr>
            <a:r>
              <a:rPr lang="en-US" dirty="0">
                <a:latin typeface="Calibri"/>
                <a:ea typeface="Calibri"/>
                <a:cs typeface="Calibri"/>
              </a:rPr>
              <a:t>Zomato is an online food delivery and restaurant aggregator platform that provides information, menus and user-reviews of restaurants as well as food delivery options from partner restaurants in more than 1,000 Indian cities with an estimated revenue of US $ 1.5 Billion (12,000 Crore INR).</a:t>
            </a:r>
            <a:endParaRPr lang="en-US" dirty="0"/>
          </a:p>
          <a:p>
            <a:pPr>
              <a:buFont typeface="Arial"/>
              <a:buChar char="•"/>
            </a:pPr>
            <a:r>
              <a:rPr lang="en-US" dirty="0">
                <a:latin typeface="Calibri"/>
                <a:ea typeface="Calibri"/>
                <a:cs typeface="Calibri"/>
              </a:rPr>
              <a:t>Between 2011 and 2015, Zomato expanded internationally to 17+ countries such as UAE, Qatar, Sri Lanka, UK, New Zealand etc. </a:t>
            </a:r>
            <a:endParaRPr lang="en-US" dirty="0"/>
          </a:p>
          <a:p>
            <a:pPr>
              <a:buFont typeface="Arial"/>
              <a:buChar char="•"/>
            </a:pPr>
            <a:r>
              <a:rPr lang="en-US" b="1" dirty="0">
                <a:latin typeface="Calibri"/>
                <a:ea typeface="Calibri"/>
                <a:cs typeface="Calibri"/>
              </a:rPr>
              <a:t>Problem Statement</a:t>
            </a:r>
            <a:endParaRPr lang="en-US" dirty="0"/>
          </a:p>
          <a:p>
            <a:pPr marL="742950" lvl="1" indent="-285750">
              <a:buFont typeface="Avenir Next LT Pro Light"/>
              <a:buChar char="–"/>
            </a:pPr>
            <a:r>
              <a:rPr lang="en-US" dirty="0">
                <a:latin typeface="Calibri"/>
                <a:ea typeface="Calibri"/>
                <a:cs typeface="Calibri"/>
              </a:rPr>
              <a:t>The given dataset is huge and it is difficult to gain insights from it. </a:t>
            </a:r>
            <a:endParaRPr lang="en-US" dirty="0"/>
          </a:p>
          <a:p>
            <a:pPr marL="742950" lvl="1" indent="-285750">
              <a:buFont typeface="Avenir Next LT Pro Light"/>
              <a:buChar char="–"/>
            </a:pPr>
            <a:r>
              <a:rPr lang="en-US" dirty="0">
                <a:latin typeface="Calibri"/>
                <a:ea typeface="Calibri"/>
                <a:cs typeface="Calibri"/>
              </a:rPr>
              <a:t>To Analyse the factors and identify the strategies required for expanding the restaurants globally. </a:t>
            </a:r>
            <a:endParaRPr lang="en-US" dirty="0"/>
          </a:p>
          <a:p>
            <a:pPr>
              <a:buFont typeface="Arial"/>
              <a:buChar char="•"/>
            </a:pPr>
            <a:r>
              <a:rPr lang="en-US" b="1" dirty="0">
                <a:latin typeface="Calibri"/>
                <a:ea typeface="Calibri"/>
                <a:cs typeface="Calibri"/>
              </a:rPr>
              <a:t>Solution</a:t>
            </a:r>
            <a:endParaRPr lang="en-US" dirty="0"/>
          </a:p>
          <a:p>
            <a:pPr marL="742950" lvl="1" indent="-285750">
              <a:buFont typeface="Avenir Next LT Pro Light"/>
              <a:buChar char="–"/>
            </a:pPr>
            <a:r>
              <a:rPr lang="en-US" dirty="0">
                <a:latin typeface="Calibri"/>
                <a:ea typeface="Calibri"/>
                <a:cs typeface="Calibri"/>
              </a:rPr>
              <a:t>Address the problem statement by analyzing the data and create a dashboard with visuals comprising of various factors like customer ratings, average cost, online delivery, table booking etc.</a:t>
            </a:r>
            <a:endParaRPr lang="en-US" dirty="0"/>
          </a:p>
          <a:p>
            <a:pPr marL="0" indent="0">
              <a:buNone/>
            </a:pPr>
            <a:endParaRPr lang="en-US" dirty="0"/>
          </a:p>
        </p:txBody>
      </p:sp>
    </p:spTree>
    <p:extLst>
      <p:ext uri="{BB962C8B-B14F-4D97-AF65-F5344CB8AC3E}">
        <p14:creationId xmlns:p14="http://schemas.microsoft.com/office/powerpoint/2010/main" val="176024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11FFE-2CBE-28ED-CE76-0D3A7E8E0879}"/>
              </a:ext>
            </a:extLst>
          </p:cNvPr>
          <p:cNvSpPr>
            <a:spLocks noGrp="1"/>
          </p:cNvSpPr>
          <p:nvPr>
            <p:ph type="title"/>
          </p:nvPr>
        </p:nvSpPr>
        <p:spPr/>
        <p:txBody>
          <a:bodyPr/>
          <a:lstStyle/>
          <a:p>
            <a:r>
              <a:rPr lang="en-US" sz="4200" b="1" dirty="0">
                <a:latin typeface="Century Gothic"/>
              </a:rPr>
              <a:t>Data Overview</a:t>
            </a:r>
            <a:endParaRPr lang="en-US" dirty="0"/>
          </a:p>
        </p:txBody>
      </p:sp>
      <p:pic>
        <p:nvPicPr>
          <p:cNvPr id="4" name="Content Placeholder 3" descr="A screenshot of a computer&#10;&#10;AI-generated content may be incorrect.">
            <a:extLst>
              <a:ext uri="{FF2B5EF4-FFF2-40B4-BE49-F238E27FC236}">
                <a16:creationId xmlns:a16="http://schemas.microsoft.com/office/drawing/2014/main" id="{CF7333E9-F9BB-6B0A-C3CF-7E053EECBCC2}"/>
              </a:ext>
            </a:extLst>
          </p:cNvPr>
          <p:cNvPicPr>
            <a:picLocks noGrp="1" noChangeAspect="1"/>
          </p:cNvPicPr>
          <p:nvPr>
            <p:ph idx="1"/>
          </p:nvPr>
        </p:nvPicPr>
        <p:blipFill>
          <a:blip r:embed="rId2"/>
          <a:stretch>
            <a:fillRect/>
          </a:stretch>
        </p:blipFill>
        <p:spPr>
          <a:xfrm>
            <a:off x="721452" y="2284004"/>
            <a:ext cx="7262378" cy="3910987"/>
          </a:xfrm>
          <a:prstGeom prst="rect">
            <a:avLst/>
          </a:prstGeom>
        </p:spPr>
      </p:pic>
      <p:pic>
        <p:nvPicPr>
          <p:cNvPr id="6" name="Picture 5" descr="A screenshot of a table&#10;&#10;AI-generated content may be incorrect.">
            <a:extLst>
              <a:ext uri="{FF2B5EF4-FFF2-40B4-BE49-F238E27FC236}">
                <a16:creationId xmlns:a16="http://schemas.microsoft.com/office/drawing/2014/main" id="{A454FEE8-D649-1BB6-0DE4-0B3304CC93BF}"/>
              </a:ext>
            </a:extLst>
          </p:cNvPr>
          <p:cNvPicPr>
            <a:picLocks noChangeAspect="1"/>
          </p:cNvPicPr>
          <p:nvPr/>
        </p:nvPicPr>
        <p:blipFill>
          <a:blip r:embed="rId3"/>
          <a:stretch>
            <a:fillRect/>
          </a:stretch>
        </p:blipFill>
        <p:spPr>
          <a:xfrm>
            <a:off x="8322145" y="1952624"/>
            <a:ext cx="2981325" cy="4235542"/>
          </a:xfrm>
          <a:prstGeom prst="rect">
            <a:avLst/>
          </a:prstGeom>
        </p:spPr>
      </p:pic>
    </p:spTree>
    <p:extLst>
      <p:ext uri="{BB962C8B-B14F-4D97-AF65-F5344CB8AC3E}">
        <p14:creationId xmlns:p14="http://schemas.microsoft.com/office/powerpoint/2010/main" val="65339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054BA-4847-6DD6-3875-1A44609A5497}"/>
              </a:ext>
            </a:extLst>
          </p:cNvPr>
          <p:cNvSpPr>
            <a:spLocks noGrp="1"/>
          </p:cNvSpPr>
          <p:nvPr>
            <p:ph type="title"/>
          </p:nvPr>
        </p:nvSpPr>
        <p:spPr/>
        <p:txBody>
          <a:bodyPr/>
          <a:lstStyle/>
          <a:p>
            <a:r>
              <a:rPr lang="en-US" sz="4200" b="1" dirty="0">
                <a:latin typeface="Century Gothic"/>
              </a:rPr>
              <a:t>Data Dictionary</a:t>
            </a:r>
            <a:endParaRPr lang="en-US" dirty="0"/>
          </a:p>
        </p:txBody>
      </p:sp>
      <p:sp>
        <p:nvSpPr>
          <p:cNvPr id="3" name="Content Placeholder 2">
            <a:extLst>
              <a:ext uri="{FF2B5EF4-FFF2-40B4-BE49-F238E27FC236}">
                <a16:creationId xmlns:a16="http://schemas.microsoft.com/office/drawing/2014/main" id="{87755203-DC13-31C2-B8DE-4D3B98B2422A}"/>
              </a:ext>
            </a:extLst>
          </p:cNvPr>
          <p:cNvSpPr>
            <a:spLocks noGrp="1"/>
          </p:cNvSpPr>
          <p:nvPr>
            <p:ph idx="1"/>
          </p:nvPr>
        </p:nvSpPr>
        <p:spPr>
          <a:xfrm>
            <a:off x="571499" y="2075688"/>
            <a:ext cx="10736372" cy="3910987"/>
          </a:xfrm>
        </p:spPr>
        <p:txBody>
          <a:bodyPr vert="horz" lIns="91440" tIns="45720" rIns="91440" bIns="45720" rtlCol="0" anchor="t">
            <a:normAutofit fontScale="92500" lnSpcReduction="20000"/>
          </a:bodyPr>
          <a:lstStyle/>
          <a:p>
            <a:r>
              <a:rPr lang="en-US" sz="1400" b="1" dirty="0">
                <a:latin typeface="Calibri"/>
                <a:ea typeface="Calibri"/>
                <a:cs typeface="Calibri"/>
              </a:rPr>
              <a:t>Restaurant ID: </a:t>
            </a:r>
            <a:r>
              <a:rPr lang="en-US" sz="1400" dirty="0">
                <a:latin typeface="Calibri"/>
                <a:ea typeface="Calibri"/>
                <a:cs typeface="Calibri"/>
              </a:rPr>
              <a:t>Unique identifier for each restaurant.</a:t>
            </a:r>
            <a:endParaRPr lang="en-US" dirty="0"/>
          </a:p>
          <a:p>
            <a:r>
              <a:rPr lang="en-US" sz="1400" b="1" dirty="0">
                <a:latin typeface="Calibri"/>
                <a:ea typeface="Calibri"/>
                <a:cs typeface="Calibri"/>
              </a:rPr>
              <a:t>Restaurant Name: </a:t>
            </a:r>
            <a:r>
              <a:rPr lang="en-US" sz="1400" dirty="0">
                <a:latin typeface="Calibri"/>
                <a:ea typeface="Calibri"/>
                <a:cs typeface="Calibri"/>
              </a:rPr>
              <a:t>The name of the restaurant.</a:t>
            </a:r>
            <a:endParaRPr lang="en-US" dirty="0"/>
          </a:p>
          <a:p>
            <a:r>
              <a:rPr lang="en-US" sz="1400" b="1" dirty="0">
                <a:latin typeface="Calibri"/>
                <a:ea typeface="Calibri"/>
                <a:cs typeface="Calibri"/>
              </a:rPr>
              <a:t>CountryCode: </a:t>
            </a:r>
            <a:r>
              <a:rPr lang="en-US" sz="1400" dirty="0">
                <a:latin typeface="Calibri"/>
                <a:ea typeface="Calibri"/>
                <a:cs typeface="Calibri"/>
              </a:rPr>
              <a:t>Country code of the location where the restaurant is situated.</a:t>
            </a:r>
            <a:endParaRPr lang="en-US" dirty="0"/>
          </a:p>
          <a:p>
            <a:r>
              <a:rPr lang="en-US" sz="1400" b="1" dirty="0">
                <a:latin typeface="Calibri"/>
                <a:ea typeface="Calibri"/>
                <a:cs typeface="Calibri"/>
              </a:rPr>
              <a:t>City: </a:t>
            </a:r>
            <a:r>
              <a:rPr lang="en-US" sz="1400" dirty="0">
                <a:latin typeface="Calibri"/>
                <a:ea typeface="Calibri"/>
                <a:cs typeface="Calibri"/>
              </a:rPr>
              <a:t>The city where the restaurant is located.</a:t>
            </a:r>
            <a:endParaRPr lang="en-US" dirty="0"/>
          </a:p>
          <a:p>
            <a:r>
              <a:rPr lang="en-US" sz="1400" b="1" dirty="0">
                <a:latin typeface="Calibri"/>
                <a:ea typeface="Calibri"/>
                <a:cs typeface="Calibri"/>
              </a:rPr>
              <a:t>Address: </a:t>
            </a:r>
            <a:r>
              <a:rPr lang="en-US" sz="1400" dirty="0">
                <a:latin typeface="Calibri"/>
                <a:ea typeface="Calibri"/>
                <a:cs typeface="Calibri"/>
              </a:rPr>
              <a:t>The specific address of the restaurant.</a:t>
            </a:r>
            <a:endParaRPr lang="en-US" dirty="0"/>
          </a:p>
          <a:p>
            <a:r>
              <a:rPr lang="en-US" sz="1400" b="1" dirty="0">
                <a:latin typeface="Calibri"/>
                <a:ea typeface="Calibri"/>
                <a:cs typeface="Calibri"/>
              </a:rPr>
              <a:t>Locality: </a:t>
            </a:r>
            <a:r>
              <a:rPr lang="en-US" sz="1400" dirty="0">
                <a:latin typeface="Calibri"/>
                <a:ea typeface="Calibri"/>
                <a:cs typeface="Calibri"/>
              </a:rPr>
              <a:t>The locality or </a:t>
            </a:r>
            <a:r>
              <a:rPr lang="en-US" sz="1400" dirty="0" err="1">
                <a:latin typeface="Calibri"/>
                <a:ea typeface="Calibri"/>
                <a:cs typeface="Calibri"/>
              </a:rPr>
              <a:t>neighbourhood</a:t>
            </a:r>
            <a:r>
              <a:rPr lang="en-US" sz="1400" dirty="0">
                <a:latin typeface="Calibri"/>
                <a:ea typeface="Calibri"/>
                <a:cs typeface="Calibri"/>
              </a:rPr>
              <a:t> where the restaurant is situated.</a:t>
            </a:r>
            <a:endParaRPr lang="en-US" dirty="0"/>
          </a:p>
          <a:p>
            <a:r>
              <a:rPr lang="en-US" sz="1400" b="1" dirty="0">
                <a:latin typeface="Calibri"/>
                <a:ea typeface="Calibri"/>
                <a:cs typeface="Calibri"/>
              </a:rPr>
              <a:t>Locality Verbose: </a:t>
            </a:r>
            <a:r>
              <a:rPr lang="en-US" sz="1400" dirty="0">
                <a:latin typeface="Calibri"/>
                <a:ea typeface="Calibri"/>
                <a:cs typeface="Calibri"/>
              </a:rPr>
              <a:t>Detailed information about the locality.</a:t>
            </a:r>
            <a:endParaRPr lang="en-US" dirty="0"/>
          </a:p>
          <a:p>
            <a:r>
              <a:rPr lang="en-US" sz="1400" b="1" dirty="0">
                <a:latin typeface="Calibri"/>
                <a:ea typeface="Calibri"/>
                <a:cs typeface="Calibri"/>
              </a:rPr>
              <a:t>Longitude: </a:t>
            </a:r>
            <a:r>
              <a:rPr lang="en-US" sz="1400" dirty="0">
                <a:latin typeface="Calibri"/>
                <a:ea typeface="Calibri"/>
                <a:cs typeface="Calibri"/>
              </a:rPr>
              <a:t>The geographical longitude coordinate of the restaurant.</a:t>
            </a:r>
            <a:endParaRPr lang="en-US" dirty="0"/>
          </a:p>
          <a:p>
            <a:r>
              <a:rPr lang="en-US" sz="1400" b="1" dirty="0">
                <a:latin typeface="Calibri"/>
                <a:ea typeface="Calibri"/>
                <a:cs typeface="Calibri"/>
              </a:rPr>
              <a:t>Latitude: </a:t>
            </a:r>
            <a:r>
              <a:rPr lang="en-US" sz="1400" dirty="0">
                <a:latin typeface="Calibri"/>
                <a:ea typeface="Calibri"/>
                <a:cs typeface="Calibri"/>
              </a:rPr>
              <a:t>The geographical latitude coordinate of the restaurant.</a:t>
            </a:r>
            <a:endParaRPr lang="en-US" dirty="0"/>
          </a:p>
          <a:p>
            <a:r>
              <a:rPr lang="en-US" sz="1400" b="1" dirty="0">
                <a:latin typeface="Calibri"/>
                <a:ea typeface="Calibri"/>
                <a:cs typeface="Calibri"/>
              </a:rPr>
              <a:t>Cuisines: </a:t>
            </a:r>
            <a:r>
              <a:rPr lang="en-US" sz="1400" dirty="0">
                <a:latin typeface="Calibri"/>
                <a:ea typeface="Calibri"/>
                <a:cs typeface="Calibri"/>
              </a:rPr>
              <a:t>The type of cuisine offered by the restaurant.</a:t>
            </a:r>
            <a:endParaRPr lang="en-US" dirty="0"/>
          </a:p>
          <a:p>
            <a:r>
              <a:rPr lang="en-US" sz="1400" b="1" dirty="0">
                <a:latin typeface="Calibri"/>
                <a:ea typeface="Calibri"/>
                <a:cs typeface="Calibri"/>
              </a:rPr>
              <a:t>Currency: </a:t>
            </a:r>
            <a:r>
              <a:rPr lang="en-US" sz="1400" dirty="0">
                <a:latin typeface="Calibri"/>
                <a:ea typeface="Calibri"/>
                <a:cs typeface="Calibri"/>
              </a:rPr>
              <a:t>The currency used for transactions in the restaurant.</a:t>
            </a:r>
            <a:endParaRPr lang="en-US" dirty="0"/>
          </a:p>
          <a:p>
            <a:r>
              <a:rPr lang="en-US" sz="1400" b="1" dirty="0" err="1">
                <a:latin typeface="Calibri"/>
                <a:ea typeface="Calibri"/>
                <a:cs typeface="Calibri"/>
              </a:rPr>
              <a:t>Has_Table_booking</a:t>
            </a:r>
            <a:r>
              <a:rPr lang="en-US" sz="1400" b="1" dirty="0">
                <a:latin typeface="Calibri"/>
                <a:ea typeface="Calibri"/>
                <a:cs typeface="Calibri"/>
              </a:rPr>
              <a:t>: </a:t>
            </a:r>
            <a:r>
              <a:rPr lang="en-US" sz="1400" dirty="0">
                <a:latin typeface="Calibri"/>
                <a:ea typeface="Calibri"/>
                <a:cs typeface="Calibri"/>
              </a:rPr>
              <a:t>Indicates whether the restaurant has a table booking option (Yes/No).</a:t>
            </a:r>
            <a:endParaRPr lang="en-US" dirty="0"/>
          </a:p>
          <a:p>
            <a:endParaRPr lang="en-US" dirty="0">
              <a:latin typeface="Avenir Next LT Pro Light"/>
              <a:ea typeface="Calibri"/>
              <a:cs typeface="Calibri"/>
            </a:endParaRPr>
          </a:p>
        </p:txBody>
      </p:sp>
    </p:spTree>
    <p:extLst>
      <p:ext uri="{BB962C8B-B14F-4D97-AF65-F5344CB8AC3E}">
        <p14:creationId xmlns:p14="http://schemas.microsoft.com/office/powerpoint/2010/main" val="1314040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670F10-49A5-16B0-AEC5-31A6056E6917}"/>
              </a:ext>
            </a:extLst>
          </p:cNvPr>
          <p:cNvSpPr>
            <a:spLocks noGrp="1"/>
          </p:cNvSpPr>
          <p:nvPr>
            <p:ph idx="1"/>
          </p:nvPr>
        </p:nvSpPr>
        <p:spPr/>
        <p:txBody>
          <a:bodyPr vert="horz" lIns="91440" tIns="45720" rIns="91440" bIns="45720" rtlCol="0" anchor="t">
            <a:normAutofit/>
          </a:bodyPr>
          <a:lstStyle/>
          <a:p>
            <a:r>
              <a:rPr lang="en-US" sz="1400" b="1" dirty="0" err="1">
                <a:latin typeface="Calibri"/>
                <a:ea typeface="Calibri"/>
                <a:cs typeface="Calibri"/>
              </a:rPr>
              <a:t>Has_Online_delivery</a:t>
            </a:r>
            <a:r>
              <a:rPr lang="en-US" sz="1400" b="1" dirty="0">
                <a:latin typeface="Calibri"/>
                <a:ea typeface="Calibri"/>
                <a:cs typeface="Calibri"/>
              </a:rPr>
              <a:t>: </a:t>
            </a:r>
            <a:r>
              <a:rPr lang="en-US" sz="1400" dirty="0">
                <a:latin typeface="Calibri"/>
                <a:ea typeface="Calibri"/>
                <a:cs typeface="Calibri"/>
              </a:rPr>
              <a:t>Indicates whether the restaurant offers online delivery (Yes/No).</a:t>
            </a:r>
            <a:endParaRPr lang="en-US"/>
          </a:p>
          <a:p>
            <a:r>
              <a:rPr lang="en-US" sz="1400" b="1" err="1">
                <a:latin typeface="Calibri"/>
                <a:ea typeface="Calibri"/>
                <a:cs typeface="Calibri"/>
              </a:rPr>
              <a:t>Is_delivering_now</a:t>
            </a:r>
            <a:r>
              <a:rPr lang="en-US" sz="1400" b="1">
                <a:latin typeface="Calibri"/>
                <a:ea typeface="Calibri"/>
                <a:cs typeface="Calibri"/>
              </a:rPr>
              <a:t>: </a:t>
            </a:r>
            <a:r>
              <a:rPr lang="en-US" sz="1400">
                <a:latin typeface="Calibri"/>
                <a:ea typeface="Calibri"/>
                <a:cs typeface="Calibri"/>
              </a:rPr>
              <a:t>Indicates whether the restaurant is currently delivering (Yes/No).</a:t>
            </a:r>
            <a:endParaRPr lang="en-US"/>
          </a:p>
          <a:p>
            <a:r>
              <a:rPr lang="en-US" sz="1400" b="1" dirty="0" err="1">
                <a:latin typeface="Calibri"/>
                <a:ea typeface="Calibri"/>
                <a:cs typeface="Calibri"/>
              </a:rPr>
              <a:t>Switch_to_order_menu</a:t>
            </a:r>
            <a:r>
              <a:rPr lang="en-US" sz="1400" b="1" dirty="0">
                <a:latin typeface="Calibri"/>
                <a:ea typeface="Calibri"/>
                <a:cs typeface="Calibri"/>
              </a:rPr>
              <a:t>: </a:t>
            </a:r>
            <a:r>
              <a:rPr lang="en-US" sz="1400" dirty="0">
                <a:latin typeface="Calibri"/>
                <a:ea typeface="Calibri"/>
                <a:cs typeface="Calibri"/>
              </a:rPr>
              <a:t>Indicates whether users can switch to the order menu (Yes/No).</a:t>
            </a:r>
            <a:endParaRPr lang="en-US"/>
          </a:p>
          <a:p>
            <a:r>
              <a:rPr lang="en-US" sz="1400" b="1" dirty="0" err="1">
                <a:latin typeface="Calibri"/>
                <a:ea typeface="Calibri"/>
                <a:cs typeface="Calibri"/>
              </a:rPr>
              <a:t>Price_range</a:t>
            </a:r>
            <a:r>
              <a:rPr lang="en-US" sz="1400" b="1" dirty="0">
                <a:latin typeface="Calibri"/>
                <a:ea typeface="Calibri"/>
                <a:cs typeface="Calibri"/>
              </a:rPr>
              <a:t>: </a:t>
            </a:r>
            <a:r>
              <a:rPr lang="en-US" sz="1400" dirty="0">
                <a:latin typeface="Calibri"/>
                <a:ea typeface="Calibri"/>
                <a:cs typeface="Calibri"/>
              </a:rPr>
              <a:t>A numeric value indicating the price range category of the restaurant.</a:t>
            </a:r>
            <a:endParaRPr lang="en-US"/>
          </a:p>
          <a:p>
            <a:r>
              <a:rPr lang="en-US" sz="1400" b="1" dirty="0">
                <a:latin typeface="Calibri"/>
                <a:ea typeface="Calibri"/>
                <a:cs typeface="Calibri"/>
              </a:rPr>
              <a:t>Votes: </a:t>
            </a:r>
            <a:r>
              <a:rPr lang="en-US" sz="1400" dirty="0">
                <a:latin typeface="Calibri"/>
                <a:ea typeface="Calibri"/>
                <a:cs typeface="Calibri"/>
              </a:rPr>
              <a:t>The number of votes or ratings/(feedback) received by the restaurant.</a:t>
            </a:r>
            <a:endParaRPr lang="en-US"/>
          </a:p>
          <a:p>
            <a:r>
              <a:rPr lang="en-US" sz="1400" b="1" dirty="0" err="1">
                <a:latin typeface="Calibri"/>
                <a:ea typeface="Calibri"/>
                <a:cs typeface="Calibri"/>
              </a:rPr>
              <a:t>Average_Cost_for_two</a:t>
            </a:r>
            <a:r>
              <a:rPr lang="en-US" sz="1400" b="1" dirty="0">
                <a:latin typeface="Calibri"/>
                <a:ea typeface="Calibri"/>
                <a:cs typeface="Calibri"/>
              </a:rPr>
              <a:t>: </a:t>
            </a:r>
            <a:r>
              <a:rPr lang="en-US" sz="1400" dirty="0">
                <a:latin typeface="Calibri"/>
                <a:ea typeface="Calibri"/>
                <a:cs typeface="Calibri"/>
              </a:rPr>
              <a:t>The average cost for two people dining at the restaurant.</a:t>
            </a:r>
            <a:endParaRPr lang="en-US"/>
          </a:p>
          <a:p>
            <a:r>
              <a:rPr lang="en-US" sz="1400" b="1" dirty="0">
                <a:latin typeface="Calibri"/>
                <a:ea typeface="Calibri"/>
                <a:cs typeface="Calibri"/>
              </a:rPr>
              <a:t>Rating: </a:t>
            </a:r>
            <a:r>
              <a:rPr lang="en-US" sz="1400" dirty="0">
                <a:latin typeface="Calibri"/>
                <a:ea typeface="Calibri"/>
                <a:cs typeface="Calibri"/>
              </a:rPr>
              <a:t>The overall rating of the restaurant is based on user reviews.</a:t>
            </a:r>
            <a:endParaRPr lang="en-US"/>
          </a:p>
          <a:p>
            <a:r>
              <a:rPr lang="en-US" sz="1400" b="1" dirty="0" err="1">
                <a:latin typeface="Calibri"/>
                <a:ea typeface="Calibri"/>
                <a:cs typeface="Calibri"/>
              </a:rPr>
              <a:t>Datekey_opening</a:t>
            </a:r>
            <a:r>
              <a:rPr lang="en-US" sz="1400" b="1" dirty="0">
                <a:latin typeface="Calibri"/>
                <a:ea typeface="Calibri"/>
                <a:cs typeface="Calibri"/>
              </a:rPr>
              <a:t>: </a:t>
            </a:r>
            <a:r>
              <a:rPr lang="en-US" sz="1400" dirty="0">
                <a:latin typeface="Calibri"/>
                <a:ea typeface="Calibri"/>
                <a:cs typeface="Calibri"/>
              </a:rPr>
              <a:t>The date when the restaurant was opened.</a:t>
            </a:r>
            <a:endParaRPr lang="en-US"/>
          </a:p>
          <a:p>
            <a:pPr marL="0" indent="0">
              <a:buNone/>
            </a:pPr>
            <a:endParaRPr lang="en-US" dirty="0"/>
          </a:p>
        </p:txBody>
      </p:sp>
      <p:sp>
        <p:nvSpPr>
          <p:cNvPr id="4" name="TextBox 3">
            <a:extLst>
              <a:ext uri="{FF2B5EF4-FFF2-40B4-BE49-F238E27FC236}">
                <a16:creationId xmlns:a16="http://schemas.microsoft.com/office/drawing/2014/main" id="{73A4ED7D-9F64-4F99-0090-68176BFF7316}"/>
              </a:ext>
            </a:extLst>
          </p:cNvPr>
          <p:cNvSpPr txBox="1"/>
          <p:nvPr/>
        </p:nvSpPr>
        <p:spPr>
          <a:xfrm>
            <a:off x="569033" y="771868"/>
            <a:ext cx="1106489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200" b="1">
                <a:latin typeface="Century Gothic"/>
              </a:rPr>
              <a:t>Data Dictionary</a:t>
            </a:r>
            <a:endParaRPr lang="en-US"/>
          </a:p>
        </p:txBody>
      </p:sp>
    </p:spTree>
    <p:extLst>
      <p:ext uri="{BB962C8B-B14F-4D97-AF65-F5344CB8AC3E}">
        <p14:creationId xmlns:p14="http://schemas.microsoft.com/office/powerpoint/2010/main" val="4148873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F0461-4B74-911C-7904-513D8F1F95B0}"/>
              </a:ext>
            </a:extLst>
          </p:cNvPr>
          <p:cNvSpPr>
            <a:spLocks noGrp="1"/>
          </p:cNvSpPr>
          <p:nvPr>
            <p:ph type="title"/>
          </p:nvPr>
        </p:nvSpPr>
        <p:spPr>
          <a:xfrm>
            <a:off x="576982" y="903088"/>
            <a:ext cx="11054482" cy="667468"/>
          </a:xfrm>
        </p:spPr>
        <p:txBody>
          <a:bodyPr>
            <a:normAutofit fontScale="90000"/>
          </a:bodyPr>
          <a:lstStyle/>
          <a:p>
            <a:endParaRPr lang="en-US" sz="4200" b="1" dirty="0">
              <a:latin typeface="Century Gothic"/>
            </a:endParaRPr>
          </a:p>
          <a:p>
            <a:r>
              <a:rPr lang="en-US" sz="4700" b="1" dirty="0">
                <a:latin typeface="Century Gothic"/>
              </a:rPr>
              <a:t>Methodology</a:t>
            </a:r>
            <a:br>
              <a:rPr lang="en-US" dirty="0"/>
            </a:br>
            <a:endParaRPr lang="en-US"/>
          </a:p>
        </p:txBody>
      </p:sp>
      <p:sp>
        <p:nvSpPr>
          <p:cNvPr id="3" name="Content Placeholder 2">
            <a:extLst>
              <a:ext uri="{FF2B5EF4-FFF2-40B4-BE49-F238E27FC236}">
                <a16:creationId xmlns:a16="http://schemas.microsoft.com/office/drawing/2014/main" id="{EEC8D417-F6B8-A35A-4BCB-261B50D396C5}"/>
              </a:ext>
            </a:extLst>
          </p:cNvPr>
          <p:cNvSpPr>
            <a:spLocks noGrp="1"/>
          </p:cNvSpPr>
          <p:nvPr>
            <p:ph idx="1"/>
          </p:nvPr>
        </p:nvSpPr>
        <p:spPr/>
        <p:txBody>
          <a:bodyPr vert="horz" lIns="91440" tIns="45720" rIns="91440" bIns="45720" rtlCol="0" anchor="t">
            <a:normAutofit fontScale="92500"/>
          </a:bodyPr>
          <a:lstStyle/>
          <a:p>
            <a:r>
              <a:rPr lang="en-US" dirty="0">
                <a:latin typeface="Calibri"/>
                <a:ea typeface="Calibri"/>
                <a:cs typeface="Calibri"/>
              </a:rPr>
              <a:t>The steps involved in the data analysis is as follows:</a:t>
            </a:r>
            <a:endParaRPr lang="en-US" dirty="0"/>
          </a:p>
          <a:p>
            <a:pPr lvl="1">
              <a:buFont typeface="Avenir Next LT Pro Light" panose="020B0604020202020204" pitchFamily="34" charset="0"/>
              <a:buChar char="–"/>
            </a:pPr>
            <a:r>
              <a:rPr lang="en-US" b="1" dirty="0">
                <a:latin typeface="Calibri"/>
                <a:ea typeface="Calibri"/>
                <a:cs typeface="Calibri"/>
              </a:rPr>
              <a:t>1. Data Cleaning:</a:t>
            </a:r>
            <a:endParaRPr lang="en-US" dirty="0"/>
          </a:p>
          <a:p>
            <a:pPr lvl="2"/>
            <a:r>
              <a:rPr lang="en-US" sz="1800" dirty="0">
                <a:latin typeface="Calibri"/>
                <a:ea typeface="Calibri"/>
                <a:cs typeface="Calibri"/>
              </a:rPr>
              <a:t>The dataset used for the analysis has to be preprocessed by performing data cleaning measures such as </a:t>
            </a:r>
            <a:endParaRPr lang="en-US" dirty="0"/>
          </a:p>
          <a:p>
            <a:pPr lvl="3">
              <a:buFont typeface="Avenir Next LT Pro Light" panose="020B0604020202020204" pitchFamily="34" charset="0"/>
              <a:buChar char="–"/>
            </a:pPr>
            <a:r>
              <a:rPr lang="en-US" dirty="0">
                <a:latin typeface="Calibri"/>
                <a:ea typeface="Calibri"/>
                <a:cs typeface="Calibri"/>
              </a:rPr>
              <a:t>Handling Missing Data </a:t>
            </a:r>
            <a:endParaRPr lang="en-US" dirty="0"/>
          </a:p>
          <a:p>
            <a:pPr lvl="3">
              <a:buFont typeface="Avenir Next LT Pro Light" panose="020B0604020202020204" pitchFamily="34" charset="0"/>
              <a:buChar char="–"/>
            </a:pPr>
            <a:r>
              <a:rPr lang="en-US" dirty="0">
                <a:latin typeface="Calibri"/>
                <a:ea typeface="Calibri"/>
                <a:cs typeface="Calibri"/>
              </a:rPr>
              <a:t>Remove Duplicates across data</a:t>
            </a:r>
            <a:endParaRPr lang="en-US" dirty="0"/>
          </a:p>
          <a:p>
            <a:r>
              <a:rPr lang="en-US" b="1" dirty="0">
                <a:latin typeface="Calibri"/>
                <a:ea typeface="Calibri"/>
                <a:cs typeface="Calibri"/>
              </a:rPr>
              <a:t>         a) Handling missing data:</a:t>
            </a:r>
            <a:endParaRPr lang="en-US" dirty="0"/>
          </a:p>
          <a:p>
            <a:pPr lvl="1">
              <a:buFont typeface="Avenir Next LT Pro Light" panose="020B0604020202020204" pitchFamily="34" charset="0"/>
              <a:buChar char="–"/>
            </a:pPr>
            <a:r>
              <a:rPr lang="en-US" dirty="0">
                <a:latin typeface="Calibri"/>
                <a:ea typeface="Calibri"/>
                <a:cs typeface="Calibri"/>
              </a:rPr>
              <a:t>Involves the identification of blank cells and replacing them with mean, median, mode in case of numerical values, most occurring value in case of text / string.</a:t>
            </a:r>
            <a:endParaRPr lang="en-US" dirty="0"/>
          </a:p>
          <a:p>
            <a:r>
              <a:rPr lang="en-US" b="1" dirty="0">
                <a:latin typeface="Calibri"/>
                <a:ea typeface="Calibri"/>
                <a:cs typeface="Calibri"/>
              </a:rPr>
              <a:t>         b) Remove Duplicates across data:</a:t>
            </a:r>
            <a:endParaRPr lang="en-US" dirty="0"/>
          </a:p>
          <a:p>
            <a:pPr lvl="1">
              <a:buFont typeface="Avenir Next LT Pro Light" panose="020B0604020202020204" pitchFamily="34" charset="0"/>
              <a:buChar char="–"/>
            </a:pPr>
            <a:r>
              <a:rPr lang="en-US" dirty="0">
                <a:latin typeface="Calibri"/>
                <a:ea typeface="Calibri"/>
                <a:cs typeface="Calibri"/>
              </a:rPr>
              <a:t>Crucial process for data preprocessing as non-removal of duplicate values will result in the analysis being less accurate.</a:t>
            </a:r>
            <a:endParaRPr lang="en-US" dirty="0"/>
          </a:p>
          <a:p>
            <a:endParaRPr lang="en-US" dirty="0"/>
          </a:p>
        </p:txBody>
      </p:sp>
    </p:spTree>
    <p:extLst>
      <p:ext uri="{BB962C8B-B14F-4D97-AF65-F5344CB8AC3E}">
        <p14:creationId xmlns:p14="http://schemas.microsoft.com/office/powerpoint/2010/main" val="287518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A1AA-9643-E751-E3B2-5B8E2FBA279B}"/>
              </a:ext>
            </a:extLst>
          </p:cNvPr>
          <p:cNvSpPr>
            <a:spLocks noGrp="1"/>
          </p:cNvSpPr>
          <p:nvPr>
            <p:ph type="title"/>
          </p:nvPr>
        </p:nvSpPr>
        <p:spPr/>
        <p:txBody>
          <a:bodyPr>
            <a:normAutofit fontScale="90000"/>
          </a:bodyPr>
          <a:lstStyle/>
          <a:p>
            <a:endParaRPr lang="en-US" sz="4700" b="1" dirty="0">
              <a:latin typeface="Century Gothic"/>
            </a:endParaRPr>
          </a:p>
          <a:p>
            <a:r>
              <a:rPr lang="en-US" sz="4700" b="1" dirty="0">
                <a:latin typeface="Century Gothic"/>
              </a:rPr>
              <a:t>Methodology</a:t>
            </a:r>
            <a:br>
              <a:rPr lang="en-US" dirty="0"/>
            </a:br>
            <a:endParaRPr lang="en-US"/>
          </a:p>
        </p:txBody>
      </p:sp>
      <p:sp>
        <p:nvSpPr>
          <p:cNvPr id="3" name="Content Placeholder 2">
            <a:extLst>
              <a:ext uri="{FF2B5EF4-FFF2-40B4-BE49-F238E27FC236}">
                <a16:creationId xmlns:a16="http://schemas.microsoft.com/office/drawing/2014/main" id="{41E774BA-4A33-5B5B-70A6-33B3680F3066}"/>
              </a:ext>
            </a:extLst>
          </p:cNvPr>
          <p:cNvSpPr>
            <a:spLocks noGrp="1"/>
          </p:cNvSpPr>
          <p:nvPr>
            <p:ph idx="1"/>
          </p:nvPr>
        </p:nvSpPr>
        <p:spPr/>
        <p:txBody>
          <a:bodyPr vert="horz" lIns="91440" tIns="45720" rIns="91440" bIns="45720" rtlCol="0" anchor="t">
            <a:normAutofit fontScale="70000" lnSpcReduction="20000"/>
          </a:bodyPr>
          <a:lstStyle/>
          <a:p>
            <a:r>
              <a:rPr lang="en-US" b="1" dirty="0">
                <a:latin typeface="Calibri"/>
                <a:ea typeface="Calibri"/>
                <a:cs typeface="Calibri"/>
              </a:rPr>
              <a:t>2. Data Enrichment:</a:t>
            </a:r>
            <a:endParaRPr lang="en-US"/>
          </a:p>
          <a:p>
            <a:pPr lvl="1">
              <a:buFont typeface="Avenir Next LT Pro Light" panose="020B0604020202020204" pitchFamily="34" charset="0"/>
              <a:buChar char="–"/>
            </a:pPr>
            <a:r>
              <a:rPr lang="en-US" b="1">
                <a:latin typeface="Calibri"/>
                <a:ea typeface="Calibri"/>
                <a:cs typeface="Calibri"/>
              </a:rPr>
              <a:t>Formulas</a:t>
            </a:r>
            <a:r>
              <a:rPr lang="en-US">
                <a:latin typeface="Calibri"/>
                <a:ea typeface="Calibri"/>
                <a:cs typeface="Calibri"/>
              </a:rPr>
              <a:t> - Calculate values from the data according to the requirement. For example, extract year from date to </a:t>
            </a:r>
            <a:r>
              <a:rPr lang="en-US" err="1">
                <a:latin typeface="Calibri"/>
                <a:ea typeface="Calibri"/>
                <a:cs typeface="Calibri"/>
              </a:rPr>
              <a:t>analyse</a:t>
            </a:r>
            <a:r>
              <a:rPr lang="en-US">
                <a:latin typeface="Calibri"/>
                <a:ea typeface="Calibri"/>
                <a:cs typeface="Calibri"/>
              </a:rPr>
              <a:t> the year-wise sales or customer count etc.</a:t>
            </a:r>
            <a:endParaRPr lang="en-US"/>
          </a:p>
          <a:p>
            <a:pPr lvl="1">
              <a:buFont typeface="Avenir Next LT Pro Light" panose="020B0604020202020204" pitchFamily="34" charset="0"/>
              <a:buChar char="–"/>
            </a:pPr>
            <a:r>
              <a:rPr lang="en-US" b="1" dirty="0">
                <a:latin typeface="Calibri"/>
                <a:ea typeface="Calibri"/>
                <a:cs typeface="Calibri"/>
              </a:rPr>
              <a:t>Aggregation / Conditional Aggregation functions </a:t>
            </a:r>
            <a:r>
              <a:rPr lang="en-US" dirty="0">
                <a:latin typeface="Calibri"/>
                <a:ea typeface="Calibri"/>
                <a:cs typeface="Calibri"/>
              </a:rPr>
              <a:t>– Functions like SUM, AVERAGE, MAX, MIN for calculating the values. For example, the total sales of restaurants in a city across a month or year etc.</a:t>
            </a:r>
            <a:endParaRPr lang="en-US" dirty="0"/>
          </a:p>
          <a:p>
            <a:pPr lvl="1">
              <a:buFont typeface="Avenir Next LT Pro Light" panose="020B0604020202020204" pitchFamily="34" charset="0"/>
              <a:buChar char="–"/>
            </a:pPr>
            <a:r>
              <a:rPr lang="en-US" b="1" dirty="0">
                <a:latin typeface="Calibri"/>
                <a:ea typeface="Calibri"/>
                <a:cs typeface="Calibri"/>
              </a:rPr>
              <a:t>LOOKUP functions </a:t>
            </a:r>
            <a:r>
              <a:rPr lang="en-US" dirty="0">
                <a:latin typeface="Calibri"/>
                <a:ea typeface="Calibri"/>
                <a:cs typeface="Calibri"/>
              </a:rPr>
              <a:t>– To looking through a single column or row to find a particular value from the same place in a second column or row.</a:t>
            </a:r>
            <a:endParaRPr lang="en-US" dirty="0"/>
          </a:p>
          <a:p>
            <a:pPr lvl="1">
              <a:buFont typeface="Avenir Next LT Pro Light" panose="020B0604020202020204" pitchFamily="34" charset="0"/>
              <a:buChar char="–"/>
            </a:pPr>
            <a:br>
              <a:rPr lang="en-US" dirty="0"/>
            </a:br>
            <a:endParaRPr lang="en-US" dirty="0"/>
          </a:p>
          <a:p>
            <a:r>
              <a:rPr lang="en-US" b="1" dirty="0">
                <a:latin typeface="Calibri"/>
                <a:ea typeface="Calibri"/>
                <a:cs typeface="Calibri"/>
              </a:rPr>
              <a:t>3. Descriptive Analysis &amp; Trend Analysis:</a:t>
            </a:r>
            <a:endParaRPr lang="en-US" dirty="0"/>
          </a:p>
          <a:p>
            <a:pPr lvl="1">
              <a:buFont typeface="Avenir Next LT Pro Light" panose="020B0604020202020204" pitchFamily="34" charset="0"/>
              <a:buChar char="–"/>
            </a:pPr>
            <a:r>
              <a:rPr lang="en-US" b="1" dirty="0">
                <a:latin typeface="Calibri"/>
                <a:ea typeface="Calibri"/>
                <a:cs typeface="Calibri"/>
              </a:rPr>
              <a:t>Pivot Tables </a:t>
            </a:r>
            <a:r>
              <a:rPr lang="en-US" dirty="0">
                <a:latin typeface="Calibri"/>
                <a:ea typeface="Calibri"/>
                <a:cs typeface="Calibri"/>
              </a:rPr>
              <a:t>- Easier view of data and create charts and visualizations using them.</a:t>
            </a:r>
            <a:endParaRPr lang="en-US" dirty="0"/>
          </a:p>
          <a:p>
            <a:pPr lvl="1">
              <a:buFont typeface="Avenir Next LT Pro Light" panose="020B0604020202020204" pitchFamily="34" charset="0"/>
              <a:buChar char="–"/>
            </a:pPr>
            <a:r>
              <a:rPr lang="en-US" b="1" dirty="0">
                <a:latin typeface="Calibri"/>
                <a:ea typeface="Calibri"/>
                <a:cs typeface="Calibri"/>
              </a:rPr>
              <a:t>Slicers </a:t>
            </a:r>
            <a:r>
              <a:rPr lang="en-US" dirty="0">
                <a:latin typeface="Calibri"/>
                <a:ea typeface="Calibri"/>
                <a:cs typeface="Calibri"/>
              </a:rPr>
              <a:t>– Extract information/ insights based on filtering the data</a:t>
            </a:r>
            <a:endParaRPr lang="en-US" dirty="0"/>
          </a:p>
          <a:p>
            <a:pPr lvl="1">
              <a:buFont typeface="Avenir Next LT Pro Light" panose="020B0604020202020204" pitchFamily="34" charset="0"/>
              <a:buChar char="–"/>
            </a:pPr>
            <a:br>
              <a:rPr lang="en-US" dirty="0"/>
            </a:br>
            <a:endParaRPr lang="en-US" dirty="0"/>
          </a:p>
          <a:p>
            <a:r>
              <a:rPr lang="en-US" b="1" dirty="0">
                <a:latin typeface="Calibri"/>
                <a:ea typeface="Calibri"/>
                <a:cs typeface="Calibri"/>
              </a:rPr>
              <a:t>4. Visualization:</a:t>
            </a:r>
            <a:endParaRPr lang="en-US" dirty="0"/>
          </a:p>
          <a:p>
            <a:pPr lvl="1">
              <a:buFont typeface="Avenir Next LT Pro Light" panose="020B0604020202020204" pitchFamily="34" charset="0"/>
              <a:buChar char="–"/>
            </a:pPr>
            <a:r>
              <a:rPr lang="en-US" b="1" dirty="0">
                <a:latin typeface="Calibri"/>
                <a:ea typeface="Calibri"/>
                <a:cs typeface="Calibri"/>
              </a:rPr>
              <a:t>Dashboard</a:t>
            </a:r>
            <a:r>
              <a:rPr lang="en-US" dirty="0">
                <a:latin typeface="Calibri"/>
                <a:ea typeface="Calibri"/>
                <a:cs typeface="Calibri"/>
              </a:rPr>
              <a:t> – Collection of visualizations such as charts, tables with slicers, trend lines etc. enabling interactive data exploration</a:t>
            </a:r>
            <a:endParaRPr lang="en-US" dirty="0"/>
          </a:p>
          <a:p>
            <a:endParaRPr lang="en-US" dirty="0"/>
          </a:p>
        </p:txBody>
      </p:sp>
    </p:spTree>
    <p:extLst>
      <p:ext uri="{BB962C8B-B14F-4D97-AF65-F5344CB8AC3E}">
        <p14:creationId xmlns:p14="http://schemas.microsoft.com/office/powerpoint/2010/main" val="135265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82C1A-E990-2B29-3170-41D7896C3518}"/>
              </a:ext>
            </a:extLst>
          </p:cNvPr>
          <p:cNvSpPr>
            <a:spLocks noGrp="1"/>
          </p:cNvSpPr>
          <p:nvPr>
            <p:ph type="title"/>
          </p:nvPr>
        </p:nvSpPr>
        <p:spPr/>
        <p:txBody>
          <a:bodyPr>
            <a:normAutofit fontScale="90000"/>
          </a:bodyPr>
          <a:lstStyle/>
          <a:p>
            <a:endParaRPr lang="en-US" sz="4200" b="1" dirty="0">
              <a:latin typeface="Century Gothic"/>
            </a:endParaRPr>
          </a:p>
          <a:p>
            <a:br>
              <a:rPr lang="en-US" dirty="0"/>
            </a:br>
            <a:endParaRPr lang="en-US" dirty="0"/>
          </a:p>
        </p:txBody>
      </p:sp>
      <p:pic>
        <p:nvPicPr>
          <p:cNvPr id="5" name="Content Placeholder 4" descr="A screenshot of a spreadsheet&#10;&#10;AI-generated content may be incorrect.">
            <a:extLst>
              <a:ext uri="{FF2B5EF4-FFF2-40B4-BE49-F238E27FC236}">
                <a16:creationId xmlns:a16="http://schemas.microsoft.com/office/drawing/2014/main" id="{665632B5-2112-AEB9-8706-398FB7CFE694}"/>
              </a:ext>
            </a:extLst>
          </p:cNvPr>
          <p:cNvPicPr>
            <a:picLocks noGrp="1" noChangeAspect="1"/>
          </p:cNvPicPr>
          <p:nvPr>
            <p:ph idx="1"/>
          </p:nvPr>
        </p:nvPicPr>
        <p:blipFill>
          <a:blip r:embed="rId2"/>
          <a:stretch>
            <a:fillRect/>
          </a:stretch>
        </p:blipFill>
        <p:spPr>
          <a:xfrm>
            <a:off x="3655310" y="2201774"/>
            <a:ext cx="7973080" cy="3910987"/>
          </a:xfrm>
          <a:prstGeom prst="rect">
            <a:avLst/>
          </a:prstGeom>
        </p:spPr>
      </p:pic>
      <p:sp>
        <p:nvSpPr>
          <p:cNvPr id="4" name="TextBox 3">
            <a:extLst>
              <a:ext uri="{FF2B5EF4-FFF2-40B4-BE49-F238E27FC236}">
                <a16:creationId xmlns:a16="http://schemas.microsoft.com/office/drawing/2014/main" id="{9B7EDDC4-8399-AC2C-8232-01284D231CA0}"/>
              </a:ext>
            </a:extLst>
          </p:cNvPr>
          <p:cNvSpPr txBox="1"/>
          <p:nvPr/>
        </p:nvSpPr>
        <p:spPr>
          <a:xfrm>
            <a:off x="569033" y="689637"/>
            <a:ext cx="1105941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200" b="1">
                <a:latin typeface="Century Gothic"/>
              </a:rPr>
              <a:t>Methodology</a:t>
            </a:r>
            <a:endParaRPr lang="en-US"/>
          </a:p>
        </p:txBody>
      </p:sp>
      <p:sp>
        <p:nvSpPr>
          <p:cNvPr id="6" name="TextBox 5">
            <a:extLst>
              <a:ext uri="{FF2B5EF4-FFF2-40B4-BE49-F238E27FC236}">
                <a16:creationId xmlns:a16="http://schemas.microsoft.com/office/drawing/2014/main" id="{6D12CEA0-4C67-85AC-B27A-A2B16AF7A8BB}"/>
              </a:ext>
            </a:extLst>
          </p:cNvPr>
          <p:cNvSpPr txBox="1"/>
          <p:nvPr/>
        </p:nvSpPr>
        <p:spPr>
          <a:xfrm>
            <a:off x="569033" y="1923090"/>
            <a:ext cx="311049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a:latin typeface="Calibri"/>
                <a:ea typeface="Calibri"/>
                <a:cs typeface="Calibri"/>
              </a:rPr>
              <a:t>The highlighted columns indicate the inclusion of new columns from the existing columns to make the data analysis and get more accurate insights from the dataset.</a:t>
            </a:r>
          </a:p>
        </p:txBody>
      </p:sp>
    </p:spTree>
    <p:extLst>
      <p:ext uri="{BB962C8B-B14F-4D97-AF65-F5344CB8AC3E}">
        <p14:creationId xmlns:p14="http://schemas.microsoft.com/office/powerpoint/2010/main" val="967755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B2C43-DFA4-80B1-08BC-17C17C3271F2}"/>
              </a:ext>
            </a:extLst>
          </p:cNvPr>
          <p:cNvSpPr>
            <a:spLocks noGrp="1"/>
          </p:cNvSpPr>
          <p:nvPr>
            <p:ph type="title"/>
          </p:nvPr>
        </p:nvSpPr>
        <p:spPr/>
        <p:txBody>
          <a:bodyPr/>
          <a:lstStyle/>
          <a:p>
            <a:r>
              <a:rPr lang="en-US" b="1" dirty="0">
                <a:latin typeface="Century Gothic"/>
              </a:rPr>
              <a:t>DATA ANALYSIS AND INSIGHTS</a:t>
            </a:r>
            <a:endParaRPr lang="en-US" dirty="0"/>
          </a:p>
        </p:txBody>
      </p:sp>
    </p:spTree>
    <p:extLst>
      <p:ext uri="{BB962C8B-B14F-4D97-AF65-F5344CB8AC3E}">
        <p14:creationId xmlns:p14="http://schemas.microsoft.com/office/powerpoint/2010/main" val="2602831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6E8A-50ED-8422-39EB-F338BD91ACFD}"/>
              </a:ext>
            </a:extLst>
          </p:cNvPr>
          <p:cNvSpPr>
            <a:spLocks noGrp="1"/>
          </p:cNvSpPr>
          <p:nvPr>
            <p:ph type="title"/>
          </p:nvPr>
        </p:nvSpPr>
        <p:spPr/>
        <p:txBody>
          <a:bodyPr/>
          <a:lstStyle/>
          <a:p>
            <a:r>
              <a:rPr lang="en-US" sz="3600" b="1" dirty="0">
                <a:latin typeface="Arial"/>
                <a:cs typeface="Arial"/>
              </a:rPr>
              <a:t>Number of Restaurants in each country</a:t>
            </a:r>
            <a:endParaRPr lang="en-US" dirty="0"/>
          </a:p>
        </p:txBody>
      </p:sp>
      <p:sp>
        <p:nvSpPr>
          <p:cNvPr id="5" name="TextBox 4">
            <a:extLst>
              <a:ext uri="{FF2B5EF4-FFF2-40B4-BE49-F238E27FC236}">
                <a16:creationId xmlns:a16="http://schemas.microsoft.com/office/drawing/2014/main" id="{E3CEA342-77BF-A2D6-ECE4-92D2AF669EC4}"/>
              </a:ext>
            </a:extLst>
          </p:cNvPr>
          <p:cNvSpPr txBox="1"/>
          <p:nvPr/>
        </p:nvSpPr>
        <p:spPr>
          <a:xfrm>
            <a:off x="8095839" y="2005321"/>
            <a:ext cx="27432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latin typeface="Calibri"/>
                <a:ea typeface="Calibri"/>
                <a:cs typeface="Calibri"/>
              </a:rPr>
              <a:t>The chart in the left provides us number of restaurants in each countries.</a:t>
            </a:r>
            <a:endParaRPr lang="en-US" dirty="0"/>
          </a:p>
          <a:p>
            <a:pPr marL="285750" indent="-285750">
              <a:buFont typeface="Arial"/>
              <a:buChar char="•"/>
            </a:pPr>
            <a:r>
              <a:rPr lang="en-US" dirty="0">
                <a:latin typeface="Calibri"/>
                <a:ea typeface="Calibri"/>
                <a:cs typeface="Calibri"/>
              </a:rPr>
              <a:t>This gives us a picture of how many restaurants are there in each countries,</a:t>
            </a:r>
            <a:endParaRPr lang="en-US" dirty="0"/>
          </a:p>
          <a:p>
            <a:pPr marL="285750" indent="-285750">
              <a:buFont typeface="Arial"/>
              <a:buChar char="•"/>
            </a:pPr>
            <a:r>
              <a:rPr lang="en-US" dirty="0">
                <a:latin typeface="Calibri"/>
                <a:ea typeface="Calibri"/>
                <a:cs typeface="Calibri"/>
              </a:rPr>
              <a:t>This visual will be of much use to the management when looking for restaurant expansions in the future for the countries mentioned.</a:t>
            </a:r>
            <a:endParaRPr lang="en-US" dirty="0"/>
          </a:p>
          <a:p>
            <a:endParaRPr lang="en-US" dirty="0"/>
          </a:p>
        </p:txBody>
      </p:sp>
      <p:pic>
        <p:nvPicPr>
          <p:cNvPr id="8" name="Content Placeholder 7" descr="A screenshot of a graph&#10;&#10;AI-generated content may be incorrect.">
            <a:extLst>
              <a:ext uri="{FF2B5EF4-FFF2-40B4-BE49-F238E27FC236}">
                <a16:creationId xmlns:a16="http://schemas.microsoft.com/office/drawing/2014/main" id="{7BDFC6C5-6301-6875-56CD-B3A4BBDD14F6}"/>
              </a:ext>
            </a:extLst>
          </p:cNvPr>
          <p:cNvPicPr>
            <a:picLocks noGrp="1" noChangeAspect="1"/>
          </p:cNvPicPr>
          <p:nvPr>
            <p:ph idx="1"/>
          </p:nvPr>
        </p:nvPicPr>
        <p:blipFill>
          <a:blip r:embed="rId2"/>
          <a:stretch>
            <a:fillRect/>
          </a:stretch>
        </p:blipFill>
        <p:spPr>
          <a:xfrm>
            <a:off x="680668" y="2004422"/>
            <a:ext cx="6412004" cy="3910987"/>
          </a:xfrm>
          <a:prstGeom prst="rect">
            <a:avLst/>
          </a:prstGeom>
        </p:spPr>
      </p:pic>
    </p:spTree>
    <p:extLst>
      <p:ext uri="{BB962C8B-B14F-4D97-AF65-F5344CB8AC3E}">
        <p14:creationId xmlns:p14="http://schemas.microsoft.com/office/powerpoint/2010/main" val="2334940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B8D5-F9D5-016E-7043-0082C6B191D7}"/>
              </a:ext>
            </a:extLst>
          </p:cNvPr>
          <p:cNvSpPr>
            <a:spLocks noGrp="1"/>
          </p:cNvSpPr>
          <p:nvPr>
            <p:ph type="title"/>
          </p:nvPr>
        </p:nvSpPr>
        <p:spPr>
          <a:xfrm>
            <a:off x="571500" y="996282"/>
            <a:ext cx="11049000" cy="1084101"/>
          </a:xfrm>
        </p:spPr>
        <p:txBody>
          <a:bodyPr>
            <a:normAutofit fontScale="90000"/>
          </a:bodyPr>
          <a:lstStyle/>
          <a:p>
            <a:r>
              <a:rPr lang="en-US" sz="4200" b="1" dirty="0">
                <a:latin typeface="Century Gothic"/>
              </a:rPr>
              <a:t>Restaurants Opened Year-wise</a:t>
            </a:r>
            <a:endParaRPr lang="en-US"/>
          </a:p>
          <a:p>
            <a:br>
              <a:rPr lang="en-US" dirty="0"/>
            </a:br>
            <a:endParaRPr lang="en-US" dirty="0"/>
          </a:p>
        </p:txBody>
      </p:sp>
      <p:pic>
        <p:nvPicPr>
          <p:cNvPr id="4" name="Content Placeholder 3" descr="A graph with numbers and a bar&#10;&#10;AI-generated content may be incorrect.">
            <a:extLst>
              <a:ext uri="{FF2B5EF4-FFF2-40B4-BE49-F238E27FC236}">
                <a16:creationId xmlns:a16="http://schemas.microsoft.com/office/drawing/2014/main" id="{A6F3EC50-6230-08EF-896E-89262E0128A8}"/>
              </a:ext>
            </a:extLst>
          </p:cNvPr>
          <p:cNvPicPr>
            <a:picLocks noGrp="1" noChangeAspect="1"/>
          </p:cNvPicPr>
          <p:nvPr>
            <p:ph idx="1"/>
          </p:nvPr>
        </p:nvPicPr>
        <p:blipFill>
          <a:blip r:embed="rId2"/>
          <a:stretch>
            <a:fillRect/>
          </a:stretch>
        </p:blipFill>
        <p:spPr>
          <a:xfrm>
            <a:off x="572029" y="2075688"/>
            <a:ext cx="5850837" cy="3910987"/>
          </a:xfrm>
          <a:prstGeom prst="rect">
            <a:avLst/>
          </a:prstGeom>
        </p:spPr>
      </p:pic>
      <p:sp>
        <p:nvSpPr>
          <p:cNvPr id="7" name="TextBox 6">
            <a:extLst>
              <a:ext uri="{FF2B5EF4-FFF2-40B4-BE49-F238E27FC236}">
                <a16:creationId xmlns:a16="http://schemas.microsoft.com/office/drawing/2014/main" id="{4790FA7D-0E29-C8D7-1056-73CCC27BE6D3}"/>
              </a:ext>
            </a:extLst>
          </p:cNvPr>
          <p:cNvSpPr txBox="1"/>
          <p:nvPr/>
        </p:nvSpPr>
        <p:spPr>
          <a:xfrm>
            <a:off x="7333840" y="2076587"/>
            <a:ext cx="3757371"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Calibri"/>
                <a:ea typeface="Calibri"/>
                <a:cs typeface="Calibri"/>
              </a:rPr>
              <a:t>The chart in the left provides us number of restaurants opened in the corresponding years.</a:t>
            </a:r>
            <a:endParaRPr lang="en-US"/>
          </a:p>
          <a:p>
            <a:endParaRPr lang="en-US" sz="2000" dirty="0">
              <a:latin typeface="Calibri"/>
              <a:ea typeface="Calibri"/>
              <a:cs typeface="Calibri"/>
            </a:endParaRPr>
          </a:p>
          <a:p>
            <a:pPr marL="285750" indent="-285750">
              <a:buFont typeface="Arial"/>
              <a:buChar char="•"/>
            </a:pPr>
            <a:r>
              <a:rPr lang="en-US" sz="2000" dirty="0">
                <a:latin typeface="Calibri"/>
                <a:ea typeface="Calibri"/>
                <a:cs typeface="Calibri"/>
              </a:rPr>
              <a:t>We can gain insights from this as to how many restaurants have been opened year-wise.</a:t>
            </a:r>
            <a:endParaRPr lang="en-US" dirty="0"/>
          </a:p>
          <a:p>
            <a:pPr marL="285750" indent="-285750">
              <a:buFont typeface="Arial"/>
              <a:buChar char="•"/>
            </a:pPr>
            <a:endParaRPr lang="en-US" sz="2000" dirty="0">
              <a:latin typeface="Calibri"/>
              <a:ea typeface="Calibri"/>
              <a:cs typeface="Calibri"/>
            </a:endParaRPr>
          </a:p>
          <a:p>
            <a:pPr marL="285750" indent="-285750">
              <a:buFont typeface="Arial"/>
              <a:buChar char="•"/>
            </a:pPr>
            <a:r>
              <a:rPr lang="en-US" sz="2000">
                <a:latin typeface="Calibri"/>
                <a:ea typeface="Calibri"/>
                <a:cs typeface="Calibri"/>
              </a:rPr>
              <a:t>It will also be helpful in the future to see if there is any </a:t>
            </a:r>
            <a:r>
              <a:rPr lang="en-US" sz="2000" dirty="0">
                <a:latin typeface="Calibri"/>
                <a:ea typeface="Calibri"/>
                <a:cs typeface="Calibri"/>
              </a:rPr>
              <a:t>pattern changes for restaurant count in the future.</a:t>
            </a:r>
            <a:endParaRPr lang="en-US"/>
          </a:p>
          <a:p>
            <a:endParaRPr lang="en-US" sz="2000" dirty="0">
              <a:latin typeface="Calibri"/>
              <a:ea typeface="Calibri"/>
              <a:cs typeface="Calibri"/>
            </a:endParaRPr>
          </a:p>
        </p:txBody>
      </p:sp>
    </p:spTree>
    <p:extLst>
      <p:ext uri="{BB962C8B-B14F-4D97-AF65-F5344CB8AC3E}">
        <p14:creationId xmlns:p14="http://schemas.microsoft.com/office/powerpoint/2010/main" val="2947389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656DE-0528-AC2E-7F82-36DF54055C95}"/>
              </a:ext>
            </a:extLst>
          </p:cNvPr>
          <p:cNvSpPr>
            <a:spLocks noGrp="1"/>
          </p:cNvSpPr>
          <p:nvPr>
            <p:ph type="title"/>
          </p:nvPr>
        </p:nvSpPr>
        <p:spPr/>
        <p:txBody>
          <a:bodyPr/>
          <a:lstStyle/>
          <a:p>
            <a:r>
              <a:rPr lang="en-US" sz="4200" b="1">
                <a:latin typeface="Century Gothic"/>
              </a:rPr>
              <a:t>Restaurants Opened Month-wise</a:t>
            </a:r>
            <a:endParaRPr lang="en-US"/>
          </a:p>
        </p:txBody>
      </p:sp>
      <p:pic>
        <p:nvPicPr>
          <p:cNvPr id="4" name="Content Placeholder 3" descr="A graph with blue dots and numbers&#10;&#10;AI-generated content may be incorrect.">
            <a:extLst>
              <a:ext uri="{FF2B5EF4-FFF2-40B4-BE49-F238E27FC236}">
                <a16:creationId xmlns:a16="http://schemas.microsoft.com/office/drawing/2014/main" id="{E2FE963F-E084-5B4F-F9ED-B62BF34951C1}"/>
              </a:ext>
            </a:extLst>
          </p:cNvPr>
          <p:cNvPicPr>
            <a:picLocks noGrp="1" noChangeAspect="1"/>
          </p:cNvPicPr>
          <p:nvPr>
            <p:ph idx="1"/>
          </p:nvPr>
        </p:nvPicPr>
        <p:blipFill>
          <a:blip r:embed="rId2"/>
          <a:stretch>
            <a:fillRect/>
          </a:stretch>
        </p:blipFill>
        <p:spPr>
          <a:xfrm>
            <a:off x="668454" y="2048278"/>
            <a:ext cx="6261010" cy="3910987"/>
          </a:xfrm>
          <a:prstGeom prst="rect">
            <a:avLst/>
          </a:prstGeom>
        </p:spPr>
      </p:pic>
      <p:sp>
        <p:nvSpPr>
          <p:cNvPr id="8" name="TextBox 7">
            <a:extLst>
              <a:ext uri="{FF2B5EF4-FFF2-40B4-BE49-F238E27FC236}">
                <a16:creationId xmlns:a16="http://schemas.microsoft.com/office/drawing/2014/main" id="{90AA137A-A180-8BF3-FDF2-49EFCCDC1685}"/>
              </a:ext>
            </a:extLst>
          </p:cNvPr>
          <p:cNvSpPr txBox="1"/>
          <p:nvPr/>
        </p:nvSpPr>
        <p:spPr>
          <a:xfrm>
            <a:off x="7651796" y="2049177"/>
            <a:ext cx="3971172"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Calibri"/>
                <a:ea typeface="Calibri"/>
                <a:cs typeface="Calibri"/>
              </a:rPr>
              <a:t>The line chart in the left provides us number of restaurants opened according to the months of the year.</a:t>
            </a:r>
            <a:endParaRPr lang="en-US"/>
          </a:p>
          <a:p>
            <a:pPr marL="285750" indent="-285750">
              <a:buFont typeface="Arial"/>
              <a:buChar char="•"/>
            </a:pPr>
            <a:endParaRPr lang="en-US" sz="2000" dirty="0">
              <a:latin typeface="Calibri"/>
              <a:ea typeface="Calibri"/>
              <a:cs typeface="Calibri"/>
            </a:endParaRPr>
          </a:p>
          <a:p>
            <a:pPr marL="285750" indent="-285750">
              <a:buFont typeface="Arial"/>
              <a:buChar char="•"/>
            </a:pPr>
            <a:r>
              <a:rPr lang="en-US" sz="2000">
                <a:latin typeface="Calibri"/>
                <a:ea typeface="Calibri"/>
                <a:cs typeface="Calibri"/>
              </a:rPr>
              <a:t>We can gain insights from this as to how many restaurants have been opened month wise.</a:t>
            </a:r>
            <a:endParaRPr lang="en-US">
              <a:latin typeface="Avenir Next LT Pro Light"/>
              <a:ea typeface="Calibri"/>
              <a:cs typeface="Calibri"/>
            </a:endParaRPr>
          </a:p>
          <a:p>
            <a:pPr marL="285750" indent="-285750">
              <a:buFont typeface="Arial"/>
              <a:buChar char="•"/>
            </a:pPr>
            <a:endParaRPr lang="en-US" sz="2000" dirty="0">
              <a:latin typeface="Calibri"/>
              <a:ea typeface="Calibri"/>
              <a:cs typeface="Calibri"/>
            </a:endParaRPr>
          </a:p>
          <a:p>
            <a:pPr marL="285750" indent="-285750">
              <a:buFont typeface="Arial"/>
              <a:buChar char="•"/>
            </a:pPr>
            <a:r>
              <a:rPr lang="en-US" sz="2000">
                <a:latin typeface="Calibri"/>
                <a:ea typeface="Calibri"/>
                <a:cs typeface="Calibri"/>
              </a:rPr>
              <a:t>It will also be helpful in the future to see if there is any pattern changes in the count of restaurants being opened monthwise in the future.</a:t>
            </a:r>
            <a:endParaRPr lang="en-US"/>
          </a:p>
          <a:p>
            <a:endParaRPr lang="en-US" dirty="0"/>
          </a:p>
        </p:txBody>
      </p:sp>
    </p:spTree>
    <p:extLst>
      <p:ext uri="{BB962C8B-B14F-4D97-AF65-F5344CB8AC3E}">
        <p14:creationId xmlns:p14="http://schemas.microsoft.com/office/powerpoint/2010/main" val="310610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C2FB7-6FF7-D206-31B4-0D1AE0AA3D76}"/>
              </a:ext>
            </a:extLst>
          </p:cNvPr>
          <p:cNvSpPr>
            <a:spLocks noGrp="1"/>
          </p:cNvSpPr>
          <p:nvPr>
            <p:ph type="title"/>
          </p:nvPr>
        </p:nvSpPr>
        <p:spPr/>
        <p:txBody>
          <a:bodyPr/>
          <a:lstStyle/>
          <a:p>
            <a:r>
              <a:rPr lang="en-US" sz="4200" b="1">
                <a:latin typeface="Century Gothic"/>
              </a:rPr>
              <a:t>Top 10 Cuisines</a:t>
            </a:r>
            <a:endParaRPr lang="en-US"/>
          </a:p>
        </p:txBody>
      </p:sp>
      <p:pic>
        <p:nvPicPr>
          <p:cNvPr id="4" name="Content Placeholder 3" descr="A graph of restaurants and restaurants&#10;&#10;AI-generated content may be incorrect.">
            <a:extLst>
              <a:ext uri="{FF2B5EF4-FFF2-40B4-BE49-F238E27FC236}">
                <a16:creationId xmlns:a16="http://schemas.microsoft.com/office/drawing/2014/main" id="{2EBC8118-8E81-0B5D-4DDB-8CDC9C538DEF}"/>
              </a:ext>
            </a:extLst>
          </p:cNvPr>
          <p:cNvPicPr>
            <a:picLocks noGrp="1" noChangeAspect="1"/>
          </p:cNvPicPr>
          <p:nvPr>
            <p:ph idx="1"/>
          </p:nvPr>
        </p:nvPicPr>
        <p:blipFill>
          <a:blip r:embed="rId2"/>
          <a:stretch>
            <a:fillRect/>
          </a:stretch>
        </p:blipFill>
        <p:spPr>
          <a:xfrm>
            <a:off x="568887" y="2059242"/>
            <a:ext cx="6306647" cy="3910987"/>
          </a:xfrm>
          <a:prstGeom prst="rect">
            <a:avLst/>
          </a:prstGeom>
        </p:spPr>
      </p:pic>
      <p:sp>
        <p:nvSpPr>
          <p:cNvPr id="5" name="TextBox 4">
            <a:extLst>
              <a:ext uri="{FF2B5EF4-FFF2-40B4-BE49-F238E27FC236}">
                <a16:creationId xmlns:a16="http://schemas.microsoft.com/office/drawing/2014/main" id="{C055208C-8557-C2B5-694E-449253DA0F77}"/>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25D016E8-189F-6707-5CE0-E8DBD07A92E6}"/>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7" name="TextBox 6">
            <a:extLst>
              <a:ext uri="{FF2B5EF4-FFF2-40B4-BE49-F238E27FC236}">
                <a16:creationId xmlns:a16="http://schemas.microsoft.com/office/drawing/2014/main" id="{486454F8-D62C-96EC-9A1D-F136C0B0486C}"/>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43F8D3A7-A4F0-E1DB-32AD-6D31A83B0A04}"/>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321C458E-843C-1AE0-4C2A-612C28B2FE1E}"/>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0" name="TextBox 9">
            <a:extLst>
              <a:ext uri="{FF2B5EF4-FFF2-40B4-BE49-F238E27FC236}">
                <a16:creationId xmlns:a16="http://schemas.microsoft.com/office/drawing/2014/main" id="{F9E3F811-818E-ACEF-EFE1-7691993E00EA}"/>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C2FEB162-F913-E4F2-C404-53F59A9C33AB}"/>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2" name="TextBox 11">
            <a:extLst>
              <a:ext uri="{FF2B5EF4-FFF2-40B4-BE49-F238E27FC236}">
                <a16:creationId xmlns:a16="http://schemas.microsoft.com/office/drawing/2014/main" id="{85186B63-23EA-AC74-0D3C-1A28CFFA098D}"/>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3" name="TextBox 12">
            <a:extLst>
              <a:ext uri="{FF2B5EF4-FFF2-40B4-BE49-F238E27FC236}">
                <a16:creationId xmlns:a16="http://schemas.microsoft.com/office/drawing/2014/main" id="{8D3A5BF1-AAA0-9503-BBA7-C634E2B85A08}"/>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4" name="TextBox 13">
            <a:extLst>
              <a:ext uri="{FF2B5EF4-FFF2-40B4-BE49-F238E27FC236}">
                <a16:creationId xmlns:a16="http://schemas.microsoft.com/office/drawing/2014/main" id="{8248CBD7-04A3-3056-FAC6-DA042BB8DEAE}"/>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5" name="TextBox 14">
            <a:extLst>
              <a:ext uri="{FF2B5EF4-FFF2-40B4-BE49-F238E27FC236}">
                <a16:creationId xmlns:a16="http://schemas.microsoft.com/office/drawing/2014/main" id="{36067794-1166-CFF3-238B-3D128FEEB43D}"/>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6" name="TextBox 15">
            <a:extLst>
              <a:ext uri="{FF2B5EF4-FFF2-40B4-BE49-F238E27FC236}">
                <a16:creationId xmlns:a16="http://schemas.microsoft.com/office/drawing/2014/main" id="{D660F46E-74BA-5AA4-5ED1-9D730D35C715}"/>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id="{A3C05F49-3271-B912-6ED4-D6F5023291A0}"/>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8" name="TextBox 17">
            <a:extLst>
              <a:ext uri="{FF2B5EF4-FFF2-40B4-BE49-F238E27FC236}">
                <a16:creationId xmlns:a16="http://schemas.microsoft.com/office/drawing/2014/main" id="{59F2DF26-5A5F-1C95-BE66-1DA618A2393F}"/>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9" name="TextBox 18">
            <a:extLst>
              <a:ext uri="{FF2B5EF4-FFF2-40B4-BE49-F238E27FC236}">
                <a16:creationId xmlns:a16="http://schemas.microsoft.com/office/drawing/2014/main" id="{0C20090A-7BF0-998F-8E8A-3ABABA58182D}"/>
              </a:ext>
            </a:extLst>
          </p:cNvPr>
          <p:cNvSpPr txBox="1"/>
          <p:nvPr/>
        </p:nvSpPr>
        <p:spPr>
          <a:xfrm>
            <a:off x="7673724" y="2060141"/>
            <a:ext cx="4047918"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Calibri"/>
                <a:ea typeface="Calibri"/>
                <a:cs typeface="Calibri"/>
              </a:rPr>
              <a:t>The chart picturizes the top 10 cuisines of the restaurants across the world who have partnered with Zomato.</a:t>
            </a:r>
            <a:endParaRPr lang="en-US"/>
          </a:p>
          <a:p>
            <a:pPr marL="285750" indent="-285750">
              <a:buFont typeface="Arial"/>
              <a:buChar char="•"/>
            </a:pPr>
            <a:endParaRPr lang="en-US" sz="2000" dirty="0">
              <a:latin typeface="Calibri"/>
              <a:ea typeface="Calibri"/>
              <a:cs typeface="Calibri"/>
            </a:endParaRPr>
          </a:p>
          <a:p>
            <a:pPr marL="285750" indent="-285750">
              <a:buFont typeface="Arial"/>
              <a:buChar char="•"/>
            </a:pPr>
            <a:r>
              <a:rPr lang="en-US" sz="2000">
                <a:latin typeface="Calibri"/>
                <a:ea typeface="Calibri"/>
                <a:cs typeface="Calibri"/>
              </a:rPr>
              <a:t>This provides an insight as to which cuisines are present in most of the restaurants.</a:t>
            </a:r>
            <a:endParaRPr lang="en-US"/>
          </a:p>
          <a:p>
            <a:pPr marL="285750" indent="-285750">
              <a:buFont typeface="Arial"/>
              <a:buChar char="•"/>
            </a:pPr>
            <a:endParaRPr lang="en-US" sz="2000" dirty="0">
              <a:latin typeface="Calibri"/>
              <a:ea typeface="Calibri"/>
              <a:cs typeface="Calibri"/>
            </a:endParaRPr>
          </a:p>
          <a:p>
            <a:pPr marL="285750" indent="-285750">
              <a:buFont typeface="Arial"/>
              <a:buChar char="•"/>
            </a:pPr>
            <a:r>
              <a:rPr lang="en-US" sz="2000">
                <a:latin typeface="Calibri"/>
                <a:ea typeface="Calibri"/>
                <a:cs typeface="Calibri"/>
              </a:rPr>
              <a:t>When a restaurant is opened in the future, this chart will be helpful in choosing the cuisine for the restaurant to be opened.</a:t>
            </a:r>
            <a:endParaRPr lang="en-US"/>
          </a:p>
          <a:p>
            <a:endParaRPr lang="en-US" dirty="0"/>
          </a:p>
        </p:txBody>
      </p:sp>
    </p:spTree>
    <p:extLst>
      <p:ext uri="{BB962C8B-B14F-4D97-AF65-F5344CB8AC3E}">
        <p14:creationId xmlns:p14="http://schemas.microsoft.com/office/powerpoint/2010/main" val="3715060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18D19-0DAF-33A1-6839-05BC6231BD4A}"/>
              </a:ext>
            </a:extLst>
          </p:cNvPr>
          <p:cNvSpPr>
            <a:spLocks noGrp="1"/>
          </p:cNvSpPr>
          <p:nvPr>
            <p:ph type="title"/>
          </p:nvPr>
        </p:nvSpPr>
        <p:spPr>
          <a:xfrm>
            <a:off x="582464" y="1177188"/>
            <a:ext cx="11049000" cy="1084101"/>
          </a:xfrm>
        </p:spPr>
        <p:txBody>
          <a:bodyPr>
            <a:normAutofit fontScale="90000"/>
          </a:bodyPr>
          <a:lstStyle/>
          <a:p>
            <a:r>
              <a:rPr lang="en-US" sz="4200" b="1">
                <a:latin typeface="Century Gothic"/>
              </a:rPr>
              <a:t>Average Cost per two (INR) across countries</a:t>
            </a:r>
            <a:endParaRPr lang="en-US"/>
          </a:p>
          <a:p>
            <a:br>
              <a:rPr lang="en-US" dirty="0"/>
            </a:br>
            <a:endParaRPr lang="en-US" dirty="0"/>
          </a:p>
        </p:txBody>
      </p:sp>
      <p:pic>
        <p:nvPicPr>
          <p:cNvPr id="10" name="Content Placeholder 9">
            <a:extLst>
              <a:ext uri="{FF2B5EF4-FFF2-40B4-BE49-F238E27FC236}">
                <a16:creationId xmlns:a16="http://schemas.microsoft.com/office/drawing/2014/main" id="{DC8F2587-0511-7476-A663-14DB4AD2C179}"/>
              </a:ext>
            </a:extLst>
          </p:cNvPr>
          <p:cNvPicPr>
            <a:picLocks noGrp="1" noChangeAspect="1"/>
          </p:cNvPicPr>
          <p:nvPr>
            <p:ph idx="1"/>
          </p:nvPr>
        </p:nvPicPr>
        <p:blipFill>
          <a:blip r:embed="rId2"/>
          <a:stretch>
            <a:fillRect/>
          </a:stretch>
        </p:blipFill>
        <p:spPr>
          <a:xfrm>
            <a:off x="360985" y="2119544"/>
            <a:ext cx="5373875" cy="3910987"/>
          </a:xfrm>
          <a:prstGeom prst="rect">
            <a:avLst/>
          </a:prstGeom>
        </p:spPr>
      </p:pic>
      <p:sp>
        <p:nvSpPr>
          <p:cNvPr id="11" name="TextBox 10">
            <a:extLst>
              <a:ext uri="{FF2B5EF4-FFF2-40B4-BE49-F238E27FC236}">
                <a16:creationId xmlns:a16="http://schemas.microsoft.com/office/drawing/2014/main" id="{9184FF15-5C04-3E17-E9FB-93C71EF80AA8}"/>
              </a:ext>
            </a:extLst>
          </p:cNvPr>
          <p:cNvSpPr txBox="1"/>
          <p:nvPr/>
        </p:nvSpPr>
        <p:spPr>
          <a:xfrm>
            <a:off x="6999436" y="2257494"/>
            <a:ext cx="4322020"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Calibri"/>
                <a:ea typeface="Calibri"/>
                <a:cs typeface="Calibri"/>
              </a:rPr>
              <a:t>We can visualize the average cost per two people in Indian Rupees across the countries.</a:t>
            </a:r>
            <a:endParaRPr lang="en-US"/>
          </a:p>
          <a:p>
            <a:pPr marL="285750" indent="-285750">
              <a:buFont typeface="Arial"/>
              <a:buChar char="•"/>
            </a:pPr>
            <a:endParaRPr lang="en-US" sz="2000" dirty="0">
              <a:latin typeface="Calibri"/>
              <a:ea typeface="Calibri"/>
              <a:cs typeface="Calibri"/>
            </a:endParaRPr>
          </a:p>
          <a:p>
            <a:pPr marL="285750" indent="-285750">
              <a:buFont typeface="Arial"/>
              <a:buChar char="•"/>
            </a:pPr>
            <a:r>
              <a:rPr lang="en-US" sz="2000">
                <a:latin typeface="Calibri"/>
                <a:ea typeface="Calibri"/>
                <a:cs typeface="Calibri"/>
              </a:rPr>
              <a:t>Singapore has the highest average cost with 9850 INR while Turkey has the least average cost with 213 INR</a:t>
            </a:r>
            <a:endParaRPr lang="en-US"/>
          </a:p>
          <a:p>
            <a:pPr marL="285750" indent="-285750">
              <a:buFont typeface="Arial"/>
              <a:buChar char="•"/>
            </a:pPr>
            <a:endParaRPr lang="en-US" sz="2000" dirty="0">
              <a:latin typeface="Calibri"/>
              <a:ea typeface="Calibri"/>
              <a:cs typeface="Calibri"/>
            </a:endParaRPr>
          </a:p>
          <a:p>
            <a:pPr marL="285750" indent="-285750">
              <a:buFont typeface="Arial"/>
              <a:buChar char="•"/>
            </a:pPr>
            <a:r>
              <a:rPr lang="en-US" sz="2000">
                <a:latin typeface="Calibri"/>
                <a:ea typeface="Calibri"/>
                <a:cs typeface="Calibri"/>
              </a:rPr>
              <a:t>When a restaurant is opened in the future, this chart will help to decide the pricing of the restaurant.</a:t>
            </a:r>
            <a:endParaRPr lang="en-US"/>
          </a:p>
          <a:p>
            <a:endParaRPr lang="en-US" dirty="0"/>
          </a:p>
        </p:txBody>
      </p:sp>
    </p:spTree>
    <p:extLst>
      <p:ext uri="{BB962C8B-B14F-4D97-AF65-F5344CB8AC3E}">
        <p14:creationId xmlns:p14="http://schemas.microsoft.com/office/powerpoint/2010/main" val="3145187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F306F-C3C0-24A0-C77D-7C4899297056}"/>
              </a:ext>
            </a:extLst>
          </p:cNvPr>
          <p:cNvSpPr>
            <a:spLocks noGrp="1"/>
          </p:cNvSpPr>
          <p:nvPr>
            <p:ph type="title"/>
          </p:nvPr>
        </p:nvSpPr>
        <p:spPr>
          <a:xfrm>
            <a:off x="571500" y="996282"/>
            <a:ext cx="11049000" cy="1084101"/>
          </a:xfrm>
        </p:spPr>
        <p:txBody>
          <a:bodyPr>
            <a:normAutofit fontScale="90000"/>
          </a:bodyPr>
          <a:lstStyle/>
          <a:p>
            <a:r>
              <a:rPr lang="en-US" sz="4200" b="1">
                <a:latin typeface="Century Gothic"/>
              </a:rPr>
              <a:t>Table Booking Distribution</a:t>
            </a:r>
            <a:endParaRPr lang="en-US"/>
          </a:p>
          <a:p>
            <a:br>
              <a:rPr lang="en-US" dirty="0"/>
            </a:br>
            <a:endParaRPr lang="en-US" dirty="0"/>
          </a:p>
        </p:txBody>
      </p:sp>
      <p:pic>
        <p:nvPicPr>
          <p:cNvPr id="4" name="Content Placeholder 3" descr="A blue circle with a red center&#10;&#10;AI-generated content may be incorrect.">
            <a:extLst>
              <a:ext uri="{FF2B5EF4-FFF2-40B4-BE49-F238E27FC236}">
                <a16:creationId xmlns:a16="http://schemas.microsoft.com/office/drawing/2014/main" id="{CEF59C4D-2C4D-A8DD-4643-6113CE909C10}"/>
              </a:ext>
            </a:extLst>
          </p:cNvPr>
          <p:cNvPicPr>
            <a:picLocks noGrp="1" noChangeAspect="1"/>
          </p:cNvPicPr>
          <p:nvPr>
            <p:ph idx="1"/>
          </p:nvPr>
        </p:nvPicPr>
        <p:blipFill>
          <a:blip r:embed="rId2"/>
          <a:stretch>
            <a:fillRect/>
          </a:stretch>
        </p:blipFill>
        <p:spPr>
          <a:xfrm>
            <a:off x="661215" y="2075688"/>
            <a:ext cx="6341271" cy="3910987"/>
          </a:xfrm>
          <a:prstGeom prst="rect">
            <a:avLst/>
          </a:prstGeom>
        </p:spPr>
      </p:pic>
      <p:sp>
        <p:nvSpPr>
          <p:cNvPr id="5" name="TextBox 4">
            <a:extLst>
              <a:ext uri="{FF2B5EF4-FFF2-40B4-BE49-F238E27FC236}">
                <a16:creationId xmlns:a16="http://schemas.microsoft.com/office/drawing/2014/main" id="{74051145-91D6-2468-D8AB-1D452B36349F}"/>
              </a:ext>
            </a:extLst>
          </p:cNvPr>
          <p:cNvSpPr txBox="1"/>
          <p:nvPr/>
        </p:nvSpPr>
        <p:spPr>
          <a:xfrm>
            <a:off x="7520227" y="2076587"/>
            <a:ext cx="3927315"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Calibri"/>
                <a:ea typeface="Calibri"/>
                <a:cs typeface="Calibri"/>
              </a:rPr>
              <a:t>We can visualize the distribution of table booking in various restaurants across the world.</a:t>
            </a:r>
            <a:endParaRPr lang="en-US"/>
          </a:p>
          <a:p>
            <a:pPr marL="285750" indent="-285750">
              <a:buFont typeface="Arial"/>
              <a:buChar char="•"/>
            </a:pPr>
            <a:r>
              <a:rPr lang="en-US" sz="2000">
                <a:latin typeface="Calibri"/>
                <a:ea typeface="Calibri"/>
                <a:cs typeface="Calibri"/>
              </a:rPr>
              <a:t>We can see that almost 85% of the restaurants            do not offer table booking whereas almost 15% of the restaurants offer table booking.</a:t>
            </a:r>
            <a:endParaRPr lang="en-US"/>
          </a:p>
          <a:p>
            <a:pPr marL="285750" indent="-285750">
              <a:buFont typeface="Arial"/>
              <a:buChar char="•"/>
            </a:pPr>
            <a:r>
              <a:rPr lang="en-US" sz="2000">
                <a:latin typeface="Calibri"/>
                <a:ea typeface="Calibri"/>
                <a:cs typeface="Calibri"/>
              </a:rPr>
              <a:t>If a restaurant is opened in future, the table booking to be provided or not depends on factors like the location, average cost etc.</a:t>
            </a:r>
            <a:endParaRPr lang="en-US"/>
          </a:p>
          <a:p>
            <a:endParaRPr lang="en-US" dirty="0"/>
          </a:p>
        </p:txBody>
      </p:sp>
    </p:spTree>
    <p:extLst>
      <p:ext uri="{BB962C8B-B14F-4D97-AF65-F5344CB8AC3E}">
        <p14:creationId xmlns:p14="http://schemas.microsoft.com/office/powerpoint/2010/main" val="3561905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F66A-9FA8-16CF-1D03-951A3400E6EF}"/>
              </a:ext>
            </a:extLst>
          </p:cNvPr>
          <p:cNvSpPr>
            <a:spLocks noGrp="1"/>
          </p:cNvSpPr>
          <p:nvPr>
            <p:ph type="title"/>
          </p:nvPr>
        </p:nvSpPr>
        <p:spPr>
          <a:xfrm>
            <a:off x="571500" y="1177188"/>
            <a:ext cx="11049000" cy="1084101"/>
          </a:xfrm>
        </p:spPr>
        <p:txBody>
          <a:bodyPr>
            <a:normAutofit fontScale="90000"/>
          </a:bodyPr>
          <a:lstStyle/>
          <a:p>
            <a:r>
              <a:rPr lang="en-US" sz="4200" b="1">
                <a:latin typeface="Century Gothic"/>
              </a:rPr>
              <a:t>Online Delivery Distribution</a:t>
            </a:r>
            <a:endParaRPr lang="en-US"/>
          </a:p>
          <a:p>
            <a:br>
              <a:rPr lang="en-US" dirty="0"/>
            </a:br>
            <a:endParaRPr lang="en-US" dirty="0"/>
          </a:p>
        </p:txBody>
      </p:sp>
      <p:pic>
        <p:nvPicPr>
          <p:cNvPr id="4" name="Content Placeholder 3" descr="A diagram of a delivery&#10;&#10;AI-generated content may be incorrect.">
            <a:extLst>
              <a:ext uri="{FF2B5EF4-FFF2-40B4-BE49-F238E27FC236}">
                <a16:creationId xmlns:a16="http://schemas.microsoft.com/office/drawing/2014/main" id="{18CB0987-E4E9-28C4-C8D8-A31476AAD2CC}"/>
              </a:ext>
            </a:extLst>
          </p:cNvPr>
          <p:cNvPicPr>
            <a:picLocks noGrp="1" noChangeAspect="1"/>
          </p:cNvPicPr>
          <p:nvPr>
            <p:ph idx="1"/>
          </p:nvPr>
        </p:nvPicPr>
        <p:blipFill>
          <a:blip r:embed="rId2"/>
          <a:stretch>
            <a:fillRect/>
          </a:stretch>
        </p:blipFill>
        <p:spPr>
          <a:xfrm>
            <a:off x="571028" y="2020868"/>
            <a:ext cx="6412004" cy="3910987"/>
          </a:xfrm>
          <a:prstGeom prst="rect">
            <a:avLst/>
          </a:prstGeom>
        </p:spPr>
      </p:pic>
      <p:sp>
        <p:nvSpPr>
          <p:cNvPr id="5" name="TextBox 4">
            <a:extLst>
              <a:ext uri="{FF2B5EF4-FFF2-40B4-BE49-F238E27FC236}">
                <a16:creationId xmlns:a16="http://schemas.microsoft.com/office/drawing/2014/main" id="{7AC0819E-A75F-5CC7-65F4-E238D3312722}"/>
              </a:ext>
            </a:extLst>
          </p:cNvPr>
          <p:cNvSpPr txBox="1"/>
          <p:nvPr/>
        </p:nvSpPr>
        <p:spPr>
          <a:xfrm>
            <a:off x="7871076" y="2021767"/>
            <a:ext cx="3603876"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Calibri"/>
                <a:ea typeface="Calibri"/>
                <a:cs typeface="Calibri"/>
              </a:rPr>
              <a:t>We can visualize the distribution of online delivery in various restaurants across the world.</a:t>
            </a:r>
            <a:endParaRPr lang="en-US"/>
          </a:p>
          <a:p>
            <a:pPr marL="285750" indent="-285750">
              <a:buFont typeface="Arial"/>
              <a:buChar char="•"/>
            </a:pPr>
            <a:r>
              <a:rPr lang="en-US" sz="2000">
                <a:latin typeface="Calibri"/>
                <a:ea typeface="Calibri"/>
                <a:cs typeface="Calibri"/>
              </a:rPr>
              <a:t>We can see that almost 75% of the restaurants          don’t offer online delivery whereas almost 25% of the restaurants offer online delivery.</a:t>
            </a:r>
            <a:endParaRPr lang="en-US"/>
          </a:p>
          <a:p>
            <a:pPr marL="285750" indent="-285750">
              <a:buFont typeface="Arial"/>
              <a:buChar char="•"/>
            </a:pPr>
            <a:r>
              <a:rPr lang="en-US" sz="2000">
                <a:latin typeface="Calibri"/>
                <a:ea typeface="Calibri"/>
                <a:cs typeface="Calibri"/>
              </a:rPr>
              <a:t>If a restaurant is opened in future, the table booking to be provided or not depends on factors like the location, average cost etc.</a:t>
            </a:r>
            <a:endParaRPr lang="en-US"/>
          </a:p>
          <a:p>
            <a:endParaRPr lang="en-US" dirty="0"/>
          </a:p>
        </p:txBody>
      </p:sp>
    </p:spTree>
    <p:extLst>
      <p:ext uri="{BB962C8B-B14F-4D97-AF65-F5344CB8AC3E}">
        <p14:creationId xmlns:p14="http://schemas.microsoft.com/office/powerpoint/2010/main" val="285427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5CE97-307F-A64F-BDCB-271A06262670}"/>
              </a:ext>
            </a:extLst>
          </p:cNvPr>
          <p:cNvSpPr>
            <a:spLocks noGrp="1"/>
          </p:cNvSpPr>
          <p:nvPr>
            <p:ph type="title"/>
          </p:nvPr>
        </p:nvSpPr>
        <p:spPr/>
        <p:txBody>
          <a:bodyPr/>
          <a:lstStyle/>
          <a:p>
            <a:r>
              <a:rPr lang="en-US" sz="4200" b="1">
                <a:latin typeface="Century Gothic"/>
              </a:rPr>
              <a:t>Suggested cities to open new restaurants</a:t>
            </a:r>
            <a:endParaRPr lang="en-US"/>
          </a:p>
        </p:txBody>
      </p:sp>
      <p:pic>
        <p:nvPicPr>
          <p:cNvPr id="4" name="Content Placeholder 3" descr="A screenshot of a computer&#10;&#10;AI-generated content may be incorrect.">
            <a:extLst>
              <a:ext uri="{FF2B5EF4-FFF2-40B4-BE49-F238E27FC236}">
                <a16:creationId xmlns:a16="http://schemas.microsoft.com/office/drawing/2014/main" id="{74FF542F-10B8-609C-B082-B7F1AB0F638D}"/>
              </a:ext>
            </a:extLst>
          </p:cNvPr>
          <p:cNvPicPr>
            <a:picLocks noGrp="1" noChangeAspect="1"/>
          </p:cNvPicPr>
          <p:nvPr>
            <p:ph idx="1"/>
          </p:nvPr>
        </p:nvPicPr>
        <p:blipFill>
          <a:blip r:embed="rId2"/>
          <a:stretch>
            <a:fillRect/>
          </a:stretch>
        </p:blipFill>
        <p:spPr>
          <a:xfrm>
            <a:off x="571779" y="1922192"/>
            <a:ext cx="8164747" cy="3910987"/>
          </a:xfrm>
          <a:prstGeom prst="rect">
            <a:avLst/>
          </a:prstGeom>
        </p:spPr>
      </p:pic>
      <p:sp>
        <p:nvSpPr>
          <p:cNvPr id="5" name="TextBox 4">
            <a:extLst>
              <a:ext uri="{FF2B5EF4-FFF2-40B4-BE49-F238E27FC236}">
                <a16:creationId xmlns:a16="http://schemas.microsoft.com/office/drawing/2014/main" id="{1821E168-22B7-1638-13D3-26315683F121}"/>
              </a:ext>
            </a:extLst>
          </p:cNvPr>
          <p:cNvSpPr txBox="1"/>
          <p:nvPr/>
        </p:nvSpPr>
        <p:spPr>
          <a:xfrm>
            <a:off x="8879767" y="1923091"/>
            <a:ext cx="3110494" cy="372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dirty="0">
              <a:latin typeface="Arial"/>
              <a:cs typeface="Arial"/>
            </a:endParaRPr>
          </a:p>
          <a:p>
            <a:pPr marL="742950" lvl="1" indent="-285750">
              <a:buFont typeface="Arial"/>
              <a:buChar char="•"/>
            </a:pPr>
            <a:r>
              <a:rPr lang="en-US" sz="1600">
                <a:latin typeface="Arial"/>
                <a:cs typeface="Arial"/>
              </a:rPr>
              <a:t>Brasí_lia, Brazil</a:t>
            </a:r>
            <a:endParaRPr lang="en-US"/>
          </a:p>
          <a:p>
            <a:pPr marL="742950" lvl="1" indent="-285750">
              <a:buFont typeface="Arial"/>
              <a:buChar char="•"/>
            </a:pPr>
            <a:r>
              <a:rPr lang="en-US" sz="1600">
                <a:latin typeface="Arial"/>
                <a:cs typeface="Arial"/>
              </a:rPr>
              <a:t>Ghaziabad, India</a:t>
            </a:r>
            <a:endParaRPr lang="en-US"/>
          </a:p>
          <a:p>
            <a:pPr marL="742950" lvl="1" indent="-285750">
              <a:buFont typeface="Arial"/>
              <a:buChar char="•"/>
            </a:pPr>
            <a:r>
              <a:rPr lang="en-US" sz="1600">
                <a:latin typeface="Arial"/>
                <a:cs typeface="Arial"/>
              </a:rPr>
              <a:t>Singapore, Singapore</a:t>
            </a:r>
            <a:endParaRPr lang="en-US"/>
          </a:p>
          <a:p>
            <a:pPr marL="742950" lvl="1" indent="-285750">
              <a:buFont typeface="Arial"/>
              <a:buChar char="•"/>
            </a:pPr>
            <a:r>
              <a:rPr lang="en-US" sz="1600">
                <a:latin typeface="Arial"/>
                <a:cs typeface="Arial"/>
              </a:rPr>
              <a:t>Colombo, Sri Lanka</a:t>
            </a:r>
            <a:endParaRPr lang="en-US"/>
          </a:p>
          <a:p>
            <a:pPr marL="742950" lvl="1" indent="-285750">
              <a:buFont typeface="Arial"/>
              <a:buChar char="•"/>
            </a:pPr>
            <a:r>
              <a:rPr lang="en-US" sz="1600">
                <a:latin typeface="Arial"/>
                <a:cs typeface="Arial"/>
              </a:rPr>
              <a:t>Birmingham, United Kingdom</a:t>
            </a:r>
            <a:endParaRPr lang="en-US"/>
          </a:p>
          <a:p>
            <a:pPr marL="742950" lvl="1" indent="-285750">
              <a:buFont typeface="Arial"/>
              <a:buChar char="•"/>
            </a:pPr>
            <a:r>
              <a:rPr lang="en-US" sz="1600">
                <a:latin typeface="Arial"/>
                <a:cs typeface="Arial"/>
              </a:rPr>
              <a:t>Dubuque , United States of </a:t>
            </a:r>
            <a:r>
              <a:rPr lang="en-US" sz="1600" dirty="0">
                <a:latin typeface="Arial"/>
                <a:cs typeface="Arial"/>
              </a:rPr>
              <a:t>America</a:t>
            </a:r>
            <a:endParaRPr lang="en-US" dirty="0"/>
          </a:p>
          <a:p>
            <a:pPr marL="285750" indent="-285750">
              <a:buFont typeface="Arial"/>
              <a:buChar char="•"/>
            </a:pPr>
            <a:r>
              <a:rPr lang="en-US">
                <a:latin typeface="Arial"/>
                <a:cs typeface="Arial"/>
              </a:rPr>
              <a:t>The cities are suggested on the basis of factors like average cost, rating, votes, online delivery.</a:t>
            </a:r>
            <a:endParaRPr lang="en-US"/>
          </a:p>
          <a:p>
            <a:endParaRPr lang="en-US" dirty="0"/>
          </a:p>
        </p:txBody>
      </p:sp>
    </p:spTree>
    <p:extLst>
      <p:ext uri="{BB962C8B-B14F-4D97-AF65-F5344CB8AC3E}">
        <p14:creationId xmlns:p14="http://schemas.microsoft.com/office/powerpoint/2010/main" val="513109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240FCEE-B6E2-46D0-9BB0-F45F79545E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BD2FB83-3783-4477-80B5-DA5BF10BA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3EA203-71D5-49C0-9626-FFA8E46787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683168C5-529E-4E00-9D4C-9F5E3252EA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883FD3-A1FB-61FE-156F-D6DA9251E427}"/>
              </a:ext>
            </a:extLst>
          </p:cNvPr>
          <p:cNvSpPr>
            <a:spLocks noGrp="1"/>
          </p:cNvSpPr>
          <p:nvPr>
            <p:ph type="title"/>
          </p:nvPr>
        </p:nvSpPr>
        <p:spPr>
          <a:xfrm>
            <a:off x="4927940" y="959405"/>
            <a:ext cx="6781757" cy="5011806"/>
          </a:xfrm>
        </p:spPr>
        <p:txBody>
          <a:bodyPr vert="horz" lIns="91440" tIns="45720" rIns="91440" bIns="45720" rtlCol="0" anchor="b">
            <a:normAutofit/>
          </a:bodyPr>
          <a:lstStyle/>
          <a:p>
            <a:pPr algn="r"/>
            <a:r>
              <a:rPr lang="en-US" b="1">
                <a:latin typeface="Century Gothic"/>
              </a:rPr>
              <a:t>SUGGESTIONS AND RECOMMENDATIONS</a:t>
            </a:r>
            <a:endParaRPr lang="en-US"/>
          </a:p>
          <a:p>
            <a:pPr algn="r"/>
            <a:br>
              <a:rPr lang="en-US" dirty="0"/>
            </a:br>
            <a:endParaRPr lang="en-US" dirty="0"/>
          </a:p>
        </p:txBody>
      </p:sp>
      <p:cxnSp>
        <p:nvCxnSpPr>
          <p:cNvPr id="15" name="Straight Connector 14">
            <a:extLst>
              <a:ext uri="{FF2B5EF4-FFF2-40B4-BE49-F238E27FC236}">
                <a16:creationId xmlns:a16="http://schemas.microsoft.com/office/drawing/2014/main" id="{8F07BAF3-9192-40BA-915C-84551923BF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14700" y="571500"/>
            <a:ext cx="0" cy="5712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C0903C-FF46-4546-AC00-F18FCD5BF9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7176" y="571500"/>
            <a:ext cx="11043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70C4DD-D704-4C63-874C-EA8923E7FA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7176" y="6286500"/>
            <a:ext cx="11043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8436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49B0-B423-B914-5DA7-00727A9ABF77}"/>
              </a:ext>
            </a:extLst>
          </p:cNvPr>
          <p:cNvSpPr>
            <a:spLocks noGrp="1"/>
          </p:cNvSpPr>
          <p:nvPr>
            <p:ph type="title"/>
          </p:nvPr>
        </p:nvSpPr>
        <p:spPr>
          <a:xfrm>
            <a:off x="571500" y="996282"/>
            <a:ext cx="11049000" cy="1084101"/>
          </a:xfrm>
        </p:spPr>
        <p:txBody>
          <a:bodyPr>
            <a:normAutofit fontScale="90000"/>
          </a:bodyPr>
          <a:lstStyle/>
          <a:p>
            <a:r>
              <a:rPr lang="en-US" sz="4200" b="1">
                <a:latin typeface="Century Gothic"/>
              </a:rPr>
              <a:t>Suggestions for Opening New Restaurants</a:t>
            </a:r>
            <a:endParaRPr lang="en-US"/>
          </a:p>
          <a:p>
            <a:br>
              <a:rPr lang="en-US" dirty="0"/>
            </a:br>
            <a:endParaRPr lang="en-US" dirty="0"/>
          </a:p>
        </p:txBody>
      </p:sp>
      <p:sp>
        <p:nvSpPr>
          <p:cNvPr id="3" name="Content Placeholder 2">
            <a:extLst>
              <a:ext uri="{FF2B5EF4-FFF2-40B4-BE49-F238E27FC236}">
                <a16:creationId xmlns:a16="http://schemas.microsoft.com/office/drawing/2014/main" id="{A57BFB9F-8A20-8327-E0AD-C82C8B68B181}"/>
              </a:ext>
            </a:extLst>
          </p:cNvPr>
          <p:cNvSpPr>
            <a:spLocks noGrp="1"/>
          </p:cNvSpPr>
          <p:nvPr>
            <p:ph idx="1"/>
          </p:nvPr>
        </p:nvSpPr>
        <p:spPr/>
        <p:txBody>
          <a:bodyPr vert="horz" lIns="91440" tIns="45720" rIns="91440" bIns="45720" rtlCol="0" anchor="t">
            <a:normAutofit/>
          </a:bodyPr>
          <a:lstStyle/>
          <a:p>
            <a:r>
              <a:rPr lang="en-US">
                <a:latin typeface="Calibri"/>
                <a:ea typeface="Calibri"/>
                <a:cs typeface="Calibri"/>
              </a:rPr>
              <a:t>Opening new restaurants at a location depends on various factors like price range, customer ratings, average cost etc.</a:t>
            </a:r>
            <a:endParaRPr lang="en-US"/>
          </a:p>
          <a:p>
            <a:r>
              <a:rPr lang="en-US">
                <a:latin typeface="Calibri"/>
                <a:ea typeface="Calibri"/>
                <a:cs typeface="Calibri"/>
              </a:rPr>
              <a:t>Based on the data, it would be a good idea / recommendation to open more restaurants in few cities and countries as follows:</a:t>
            </a:r>
            <a:endParaRPr lang="en-US"/>
          </a:p>
          <a:p>
            <a:pPr lvl="1">
              <a:buFont typeface="Avenir Next LT Pro Light" panose="020B0604020202020204" pitchFamily="34" charset="0"/>
              <a:buChar char="–"/>
            </a:pPr>
            <a:r>
              <a:rPr lang="en-US" sz="1600">
                <a:latin typeface="Arial"/>
                <a:cs typeface="Arial"/>
              </a:rPr>
              <a:t>Brasí_lia, Brazil</a:t>
            </a:r>
            <a:endParaRPr lang="en-US"/>
          </a:p>
          <a:p>
            <a:pPr lvl="1">
              <a:buFont typeface="Avenir Next LT Pro Light" panose="020B0604020202020204" pitchFamily="34" charset="0"/>
              <a:buChar char="–"/>
            </a:pPr>
            <a:r>
              <a:rPr lang="en-US" sz="1600">
                <a:latin typeface="Arial"/>
                <a:cs typeface="Arial"/>
              </a:rPr>
              <a:t>Ghaziabad, India</a:t>
            </a:r>
            <a:endParaRPr lang="en-US"/>
          </a:p>
          <a:p>
            <a:pPr lvl="1">
              <a:buFont typeface="Avenir Next LT Pro Light" panose="020B0604020202020204" pitchFamily="34" charset="0"/>
              <a:buChar char="–"/>
            </a:pPr>
            <a:r>
              <a:rPr lang="en-US" sz="1600">
                <a:latin typeface="Arial"/>
                <a:cs typeface="Arial"/>
              </a:rPr>
              <a:t>Singapore, Singapore</a:t>
            </a:r>
            <a:endParaRPr lang="en-US"/>
          </a:p>
          <a:p>
            <a:pPr lvl="1">
              <a:buFont typeface="Avenir Next LT Pro Light" panose="020B0604020202020204" pitchFamily="34" charset="0"/>
              <a:buChar char="–"/>
            </a:pPr>
            <a:r>
              <a:rPr lang="en-US" sz="1600">
                <a:latin typeface="Arial"/>
                <a:cs typeface="Arial"/>
              </a:rPr>
              <a:t>Colombo, Sri Lanka</a:t>
            </a:r>
            <a:endParaRPr lang="en-US"/>
          </a:p>
          <a:p>
            <a:pPr lvl="1">
              <a:buFont typeface="Avenir Next LT Pro Light" panose="020B0604020202020204" pitchFamily="34" charset="0"/>
              <a:buChar char="–"/>
            </a:pPr>
            <a:r>
              <a:rPr lang="en-US" sz="1600">
                <a:latin typeface="Arial"/>
                <a:cs typeface="Arial"/>
              </a:rPr>
              <a:t>Birmingham, United Kingdom</a:t>
            </a:r>
            <a:endParaRPr lang="en-US"/>
          </a:p>
          <a:p>
            <a:pPr lvl="1">
              <a:buFont typeface="Avenir Next LT Pro Light" panose="020B0604020202020204" pitchFamily="34" charset="0"/>
              <a:buChar char="–"/>
            </a:pPr>
            <a:r>
              <a:rPr lang="en-US" sz="1600">
                <a:latin typeface="Arial"/>
                <a:cs typeface="Arial"/>
              </a:rPr>
              <a:t>Dubuque, United States of America</a:t>
            </a:r>
            <a:endParaRPr lang="en-US"/>
          </a:p>
          <a:p>
            <a:endParaRPr lang="en-US" dirty="0"/>
          </a:p>
        </p:txBody>
      </p:sp>
    </p:spTree>
    <p:extLst>
      <p:ext uri="{BB962C8B-B14F-4D97-AF65-F5344CB8AC3E}">
        <p14:creationId xmlns:p14="http://schemas.microsoft.com/office/powerpoint/2010/main" val="3509226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BA74469F-F149-34BA-422D-524A285C3C2A}"/>
              </a:ext>
            </a:extLst>
          </p:cNvPr>
          <p:cNvGraphicFramePr>
            <a:graphicFrameLocks noGrp="1"/>
          </p:cNvGraphicFramePr>
          <p:nvPr>
            <p:ph idx="4294967295"/>
            <p:extLst>
              <p:ext uri="{D42A27DB-BD31-4B8C-83A1-F6EECF244321}">
                <p14:modId xmlns:p14="http://schemas.microsoft.com/office/powerpoint/2010/main" val="3987799965"/>
              </p:ext>
            </p:extLst>
          </p:nvPr>
        </p:nvGraphicFramePr>
        <p:xfrm>
          <a:off x="569636" y="1233071"/>
          <a:ext cx="11060112" cy="3957860"/>
        </p:xfrm>
        <a:graphic>
          <a:graphicData uri="http://schemas.openxmlformats.org/drawingml/2006/table">
            <a:tbl>
              <a:tblPr bandRow="1">
                <a:tableStyleId>{5C22544A-7EE6-4342-B048-85BDC9FD1C3A}</a:tableStyleId>
              </a:tblPr>
              <a:tblGrid>
                <a:gridCol w="1430187">
                  <a:extLst>
                    <a:ext uri="{9D8B030D-6E8A-4147-A177-3AD203B41FA5}">
                      <a16:colId xmlns:a16="http://schemas.microsoft.com/office/drawing/2014/main" val="2734275668"/>
                    </a:ext>
                  </a:extLst>
                </a:gridCol>
                <a:gridCol w="1430187">
                  <a:extLst>
                    <a:ext uri="{9D8B030D-6E8A-4147-A177-3AD203B41FA5}">
                      <a16:colId xmlns:a16="http://schemas.microsoft.com/office/drawing/2014/main" val="698008434"/>
                    </a:ext>
                  </a:extLst>
                </a:gridCol>
                <a:gridCol w="1430187">
                  <a:extLst>
                    <a:ext uri="{9D8B030D-6E8A-4147-A177-3AD203B41FA5}">
                      <a16:colId xmlns:a16="http://schemas.microsoft.com/office/drawing/2014/main" val="1011472272"/>
                    </a:ext>
                  </a:extLst>
                </a:gridCol>
                <a:gridCol w="1430187">
                  <a:extLst>
                    <a:ext uri="{9D8B030D-6E8A-4147-A177-3AD203B41FA5}">
                      <a16:colId xmlns:a16="http://schemas.microsoft.com/office/drawing/2014/main" val="2696981857"/>
                    </a:ext>
                  </a:extLst>
                </a:gridCol>
                <a:gridCol w="1430187">
                  <a:extLst>
                    <a:ext uri="{9D8B030D-6E8A-4147-A177-3AD203B41FA5}">
                      <a16:colId xmlns:a16="http://schemas.microsoft.com/office/drawing/2014/main" val="2405883602"/>
                    </a:ext>
                  </a:extLst>
                </a:gridCol>
                <a:gridCol w="3909177">
                  <a:extLst>
                    <a:ext uri="{9D8B030D-6E8A-4147-A177-3AD203B41FA5}">
                      <a16:colId xmlns:a16="http://schemas.microsoft.com/office/drawing/2014/main" val="456648087"/>
                    </a:ext>
                  </a:extLst>
                </a:gridCol>
              </a:tblGrid>
              <a:tr h="767943">
                <a:tc>
                  <a:txBody>
                    <a:bodyPr/>
                    <a:lstStyle/>
                    <a:p>
                      <a:pPr rtl="0" fontAlgn="b">
                        <a:buNone/>
                      </a:pPr>
                      <a:r>
                        <a:rPr lang="en-US" sz="1100" b="0" i="1" u="none" strike="noStrike">
                          <a:solidFill>
                            <a:srgbClr val="000000"/>
                          </a:solidFill>
                          <a:effectLst/>
                          <a:latin typeface="Calibri" panose="020F0502020204030204" pitchFamily="34" charset="0"/>
                        </a:rPr>
                        <a:t>Country Name</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657BA3"/>
                      </a:solidFill>
                      <a:prstDash val="solid"/>
                      <a:round/>
                      <a:headEnd type="none" w="med" len="med"/>
                      <a:tailEnd type="none" w="med" len="med"/>
                    </a:lnB>
                    <a:solidFill>
                      <a:srgbClr val="D8DEE8"/>
                    </a:solidFill>
                  </a:tcPr>
                </a:tc>
                <a:tc>
                  <a:txBody>
                    <a:bodyPr/>
                    <a:lstStyle/>
                    <a:p>
                      <a:pPr rtl="0" fontAlgn="b">
                        <a:buNone/>
                      </a:pPr>
                      <a:r>
                        <a:rPr lang="en-US" sz="1100" b="0" i="1" u="none" strike="noStrike">
                          <a:solidFill>
                            <a:srgbClr val="000000"/>
                          </a:solidFill>
                          <a:effectLst/>
                          <a:latin typeface="Calibri" panose="020F0502020204030204" pitchFamily="34" charset="0"/>
                        </a:rPr>
                        <a:t>City</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657BA3"/>
                      </a:solidFill>
                      <a:prstDash val="solid"/>
                      <a:round/>
                      <a:headEnd type="none" w="med" len="med"/>
                      <a:tailEnd type="none" w="med" len="med"/>
                    </a:lnB>
                    <a:solidFill>
                      <a:srgbClr val="D8DEE8"/>
                    </a:solidFill>
                  </a:tcPr>
                </a:tc>
                <a:tc>
                  <a:txBody>
                    <a:bodyPr/>
                    <a:lstStyle/>
                    <a:p>
                      <a:pPr rtl="0" fontAlgn="b">
                        <a:buNone/>
                      </a:pPr>
                      <a:r>
                        <a:rPr lang="en-US" sz="1100" b="0" i="0" u="none" strike="noStrike">
                          <a:solidFill>
                            <a:srgbClr val="FFFFFF"/>
                          </a:solidFill>
                          <a:effectLst/>
                          <a:latin typeface="Calibri" panose="020F0502020204030204" pitchFamily="34" charset="0"/>
                        </a:rPr>
                        <a:t>AVERAGE of average cost for two(in Indian Rupees)</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657BA3"/>
                      </a:solidFill>
                      <a:prstDash val="solid"/>
                      <a:round/>
                      <a:headEnd type="none" w="med" len="med"/>
                      <a:tailEnd type="none" w="med" len="med"/>
                    </a:lnB>
                    <a:solidFill>
                      <a:srgbClr val="657BA3"/>
                    </a:solidFill>
                  </a:tcPr>
                </a:tc>
                <a:tc>
                  <a:txBody>
                    <a:bodyPr/>
                    <a:lstStyle/>
                    <a:p>
                      <a:pPr rtl="0" fontAlgn="b">
                        <a:buNone/>
                      </a:pPr>
                      <a:r>
                        <a:rPr lang="en-US" sz="1100" b="0" i="0" u="none" strike="noStrike">
                          <a:solidFill>
                            <a:srgbClr val="FFFFFF"/>
                          </a:solidFill>
                          <a:effectLst/>
                          <a:latin typeface="Calibri" panose="020F0502020204030204" pitchFamily="34" charset="0"/>
                        </a:rPr>
                        <a:t>AVERAGE of Rating</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657BA3"/>
                      </a:solidFill>
                      <a:prstDash val="solid"/>
                      <a:round/>
                      <a:headEnd type="none" w="med" len="med"/>
                      <a:tailEnd type="none" w="med" len="med"/>
                    </a:lnB>
                    <a:solidFill>
                      <a:srgbClr val="657BA3"/>
                    </a:solidFill>
                  </a:tcPr>
                </a:tc>
                <a:tc>
                  <a:txBody>
                    <a:bodyPr/>
                    <a:lstStyle/>
                    <a:p>
                      <a:pPr rtl="0" fontAlgn="b">
                        <a:buNone/>
                      </a:pPr>
                      <a:r>
                        <a:rPr lang="en-US" sz="1100" b="0" i="0" u="none" strike="noStrike">
                          <a:solidFill>
                            <a:srgbClr val="FFFFFF"/>
                          </a:solidFill>
                          <a:effectLst/>
                          <a:latin typeface="Calibri" panose="020F0502020204030204" pitchFamily="34" charset="0"/>
                        </a:rPr>
                        <a:t>COUNTA of RestaurantName</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657BA3"/>
                      </a:solidFill>
                      <a:prstDash val="solid"/>
                      <a:round/>
                      <a:headEnd type="none" w="med" len="med"/>
                      <a:tailEnd type="none" w="med" len="med"/>
                    </a:lnB>
                    <a:solidFill>
                      <a:srgbClr val="657BA3"/>
                    </a:solidFill>
                  </a:tcPr>
                </a:tc>
                <a:tc>
                  <a:txBody>
                    <a:bodyPr/>
                    <a:lstStyle/>
                    <a:p>
                      <a:pPr rtl="0" fontAlgn="b">
                        <a:buNone/>
                      </a:pPr>
                      <a:r>
                        <a:rPr lang="en-US" sz="1100" b="0" i="0" u="none" strike="noStrike">
                          <a:solidFill>
                            <a:srgbClr val="FFFFFF"/>
                          </a:solidFill>
                          <a:effectLst/>
                          <a:latin typeface="Calibri" panose="020F0502020204030204" pitchFamily="34" charset="0"/>
                        </a:rPr>
                        <a:t>AVERAGE of Average_Cost_for_two</a:t>
                      </a:r>
                      <a:endParaRPr lang="en-US">
                        <a:effectLst/>
                      </a:endParaRPr>
                    </a:p>
                  </a:txBody>
                  <a:tcPr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657BA3"/>
                      </a:solidFill>
                      <a:prstDash val="solid"/>
                      <a:round/>
                      <a:headEnd type="none" w="med" len="med"/>
                      <a:tailEnd type="none" w="med" len="med"/>
                    </a:lnB>
                    <a:solidFill>
                      <a:srgbClr val="657BA3"/>
                    </a:solidFill>
                  </a:tcPr>
                </a:tc>
                <a:extLst>
                  <a:ext uri="{0D108BD9-81ED-4DB2-BD59-A6C34878D82A}">
                    <a16:rowId xmlns:a16="http://schemas.microsoft.com/office/drawing/2014/main" val="3198892422"/>
                  </a:ext>
                </a:extLst>
              </a:tr>
              <a:tr h="334744">
                <a:tc>
                  <a:txBody>
                    <a:bodyPr/>
                    <a:lstStyle/>
                    <a:p>
                      <a:pPr rtl="0" fontAlgn="b">
                        <a:buNone/>
                      </a:pPr>
                      <a:r>
                        <a:rPr lang="en-US" sz="1100" b="0" i="0" u="none" strike="noStrike">
                          <a:solidFill>
                            <a:srgbClr val="000000"/>
                          </a:solidFill>
                          <a:effectLst/>
                          <a:latin typeface="Calibri" panose="020F0502020204030204" pitchFamily="34" charset="0"/>
                        </a:rPr>
                        <a:t>Brazil</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rtl="0" fontAlgn="b">
                        <a:buNone/>
                      </a:pPr>
                      <a:r>
                        <a:rPr lang="en-US" sz="1100" b="0" i="0" u="none" strike="noStrike">
                          <a:solidFill>
                            <a:srgbClr val="000000"/>
                          </a:solidFill>
                          <a:effectLst/>
                          <a:latin typeface="Calibri" panose="020F0502020204030204" pitchFamily="34" charset="0"/>
                        </a:rPr>
                        <a:t>Brasí_lia</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algn="r" rtl="0" fontAlgn="b">
                        <a:buNone/>
                      </a:pPr>
                      <a:r>
                        <a:rPr lang="en-US" sz="1100" b="0" i="0" u="none" strike="noStrike">
                          <a:solidFill>
                            <a:srgbClr val="000000"/>
                          </a:solidFill>
                          <a:effectLst/>
                          <a:latin typeface="Calibri" panose="020F0502020204030204" pitchFamily="34" charset="0"/>
                        </a:rPr>
                        <a:t>1791.6</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3.545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20</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120</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325646349"/>
                  </a:ext>
                </a:extLst>
              </a:tr>
              <a:tr h="334744">
                <a:tc>
                  <a:txBody>
                    <a:bodyPr/>
                    <a:lstStyle/>
                    <a:p>
                      <a:pPr rtl="0" fontAlgn="b">
                        <a:buNone/>
                      </a:pPr>
                      <a:r>
                        <a:rPr lang="en-US" sz="1100" b="0" i="0" u="none" strike="noStrike">
                          <a:solidFill>
                            <a:srgbClr val="000000"/>
                          </a:solidFill>
                          <a:effectLst/>
                          <a:latin typeface="Calibri" panose="020F0502020204030204" pitchFamily="34" charset="0"/>
                        </a:rPr>
                        <a:t>India</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rtl="0" fontAlgn="b">
                        <a:buNone/>
                      </a:pPr>
                      <a:r>
                        <a:rPr lang="en-US" sz="1100" b="0" i="0" u="none" strike="noStrike">
                          <a:solidFill>
                            <a:srgbClr val="000000"/>
                          </a:solidFill>
                          <a:effectLst/>
                          <a:latin typeface="Calibri" panose="020F0502020204030204" pitchFamily="34" charset="0"/>
                        </a:rPr>
                        <a:t>Ghaziabad</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algn="r" rtl="0" fontAlgn="b">
                        <a:buNone/>
                      </a:pPr>
                      <a:r>
                        <a:rPr lang="en-US" sz="1100" b="0" i="0" u="none" strike="noStrike">
                          <a:solidFill>
                            <a:srgbClr val="000000"/>
                          </a:solidFill>
                          <a:effectLst/>
                          <a:latin typeface="Calibri" panose="020F0502020204030204" pitchFamily="34" charset="0"/>
                        </a:rPr>
                        <a:t>602</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2.932</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602</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601274744"/>
                  </a:ext>
                </a:extLst>
              </a:tr>
              <a:tr h="334744">
                <a:tc>
                  <a:txBody>
                    <a:bodyPr/>
                    <a:lstStyle/>
                    <a:p>
                      <a:pPr rtl="0" fontAlgn="b">
                        <a:buNone/>
                      </a:pPr>
                      <a:r>
                        <a:rPr lang="en-US" sz="1100" b="0" i="0" u="none" strike="noStrike">
                          <a:solidFill>
                            <a:srgbClr val="000000"/>
                          </a:solidFill>
                          <a:effectLst/>
                          <a:latin typeface="Calibri" panose="020F0502020204030204" pitchFamily="34" charset="0"/>
                        </a:rPr>
                        <a:t>Singapore</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rtl="0" fontAlgn="b">
                        <a:buNone/>
                      </a:pPr>
                      <a:r>
                        <a:rPr lang="en-US" sz="1100" b="0" i="0" u="none" strike="noStrike">
                          <a:solidFill>
                            <a:srgbClr val="000000"/>
                          </a:solidFill>
                          <a:effectLst/>
                          <a:latin typeface="Calibri" panose="020F0502020204030204" pitchFamily="34" charset="0"/>
                        </a:rPr>
                        <a:t>Singapore</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algn="r" rtl="0" fontAlgn="b">
                        <a:buNone/>
                      </a:pPr>
                      <a:r>
                        <a:rPr lang="en-US" sz="1100" b="0" i="0" u="none" strike="noStrike">
                          <a:solidFill>
                            <a:srgbClr val="000000"/>
                          </a:solidFill>
                          <a:effectLst/>
                          <a:latin typeface="Calibri" panose="020F0502020204030204" pitchFamily="34" charset="0"/>
                        </a:rPr>
                        <a:t>9849.63</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3.575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20</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155.75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43205261"/>
                  </a:ext>
                </a:extLst>
              </a:tr>
              <a:tr h="334744">
                <a:tc>
                  <a:txBody>
                    <a:bodyPr/>
                    <a:lstStyle/>
                    <a:p>
                      <a:pPr rtl="0" fontAlgn="b">
                        <a:buNone/>
                      </a:pPr>
                      <a:r>
                        <a:rPr lang="en-US" sz="1100" b="0" i="0" u="none" strike="noStrike">
                          <a:solidFill>
                            <a:srgbClr val="000000"/>
                          </a:solidFill>
                          <a:effectLst/>
                          <a:latin typeface="Calibri" panose="020F0502020204030204" pitchFamily="34" charset="0"/>
                        </a:rPr>
                        <a:t>Sri Lanka</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rtl="0" fontAlgn="b">
                        <a:buNone/>
                      </a:pPr>
                      <a:r>
                        <a:rPr lang="en-US" sz="1100" b="0" i="0" u="none" strike="noStrike">
                          <a:solidFill>
                            <a:srgbClr val="000000"/>
                          </a:solidFill>
                          <a:effectLst/>
                          <a:latin typeface="Calibri" panose="020F0502020204030204" pitchFamily="34" charset="0"/>
                        </a:rPr>
                        <a:t>Colombo</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algn="r" rtl="0" fontAlgn="b">
                        <a:buNone/>
                      </a:pPr>
                      <a:r>
                        <a:rPr lang="en-US" sz="1100" b="0" i="0" u="none" strike="noStrike">
                          <a:solidFill>
                            <a:srgbClr val="000000"/>
                          </a:solidFill>
                          <a:effectLst/>
                          <a:latin typeface="Calibri" panose="020F0502020204030204" pitchFamily="34" charset="0"/>
                        </a:rPr>
                        <a:t>665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3.87</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20</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2375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0669645"/>
                  </a:ext>
                </a:extLst>
              </a:tr>
              <a:tr h="433199">
                <a:tc>
                  <a:txBody>
                    <a:bodyPr/>
                    <a:lstStyle/>
                    <a:p>
                      <a:pPr rtl="0" fontAlgn="b">
                        <a:buNone/>
                      </a:pPr>
                      <a:r>
                        <a:rPr lang="en-US" sz="1100" b="0" i="0" u="none" strike="noStrike">
                          <a:solidFill>
                            <a:srgbClr val="000000"/>
                          </a:solidFill>
                          <a:effectLst/>
                          <a:latin typeface="Calibri" panose="020F0502020204030204" pitchFamily="34" charset="0"/>
                        </a:rPr>
                        <a:t>United Kingdom</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rtl="0" fontAlgn="b">
                        <a:buNone/>
                      </a:pPr>
                      <a:r>
                        <a:rPr lang="en-US" sz="1100" b="0" i="0" u="none" strike="noStrike">
                          <a:solidFill>
                            <a:srgbClr val="000000"/>
                          </a:solidFill>
                          <a:effectLst/>
                          <a:latin typeface="Calibri" panose="020F0502020204030204" pitchFamily="34" charset="0"/>
                        </a:rPr>
                        <a:t>Birmingham</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4F7"/>
                    </a:solidFill>
                  </a:tcPr>
                </a:tc>
                <a:tc>
                  <a:txBody>
                    <a:bodyPr/>
                    <a:lstStyle/>
                    <a:p>
                      <a:pPr algn="r" rtl="0" fontAlgn="b">
                        <a:buNone/>
                      </a:pPr>
                      <a:r>
                        <a:rPr lang="en-US" sz="1100" b="0" i="0" u="none" strike="noStrike">
                          <a:solidFill>
                            <a:srgbClr val="000000"/>
                          </a:solidFill>
                          <a:effectLst/>
                          <a:latin typeface="Calibri" panose="020F0502020204030204" pitchFamily="34" charset="0"/>
                        </a:rPr>
                        <a:t>4165.98</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3.73</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20</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39</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357881772"/>
                  </a:ext>
                </a:extLst>
              </a:tr>
              <a:tr h="551344">
                <a:tc>
                  <a:txBody>
                    <a:bodyPr/>
                    <a:lstStyle/>
                    <a:p>
                      <a:pPr rtl="0" fontAlgn="b">
                        <a:buNone/>
                      </a:pPr>
                      <a:r>
                        <a:rPr lang="en-US" sz="1100" b="0" i="0" u="none" strike="noStrike">
                          <a:solidFill>
                            <a:srgbClr val="000000"/>
                          </a:solidFill>
                          <a:effectLst/>
                          <a:latin typeface="Calibri" panose="020F0502020204030204" pitchFamily="34" charset="0"/>
                        </a:rPr>
                        <a:t>United States of America</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2F4F7"/>
                    </a:solidFill>
                  </a:tcPr>
                </a:tc>
                <a:tc>
                  <a:txBody>
                    <a:bodyPr/>
                    <a:lstStyle/>
                    <a:p>
                      <a:pPr rtl="0" fontAlgn="b">
                        <a:buNone/>
                      </a:pPr>
                      <a:r>
                        <a:rPr lang="en-US" sz="1100" b="0" i="0" u="none" strike="noStrike">
                          <a:solidFill>
                            <a:srgbClr val="000000"/>
                          </a:solidFill>
                          <a:effectLst/>
                          <a:latin typeface="Calibri" panose="020F0502020204030204" pitchFamily="34" charset="0"/>
                        </a:rPr>
                        <a:t>Dubuque</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2F4F7"/>
                    </a:solidFill>
                  </a:tcPr>
                </a:tc>
                <a:tc>
                  <a:txBody>
                    <a:bodyPr/>
                    <a:lstStyle/>
                    <a:p>
                      <a:pPr algn="r" rtl="0" fontAlgn="b">
                        <a:buNone/>
                      </a:pPr>
                      <a:r>
                        <a:rPr lang="en-US" sz="1100" b="0" i="0" u="none" strike="noStrike">
                          <a:solidFill>
                            <a:srgbClr val="000000"/>
                          </a:solidFill>
                          <a:effectLst/>
                          <a:latin typeface="Calibri" panose="020F0502020204030204" pitchFamily="34" charset="0"/>
                        </a:rPr>
                        <a:t>1993.8125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3.535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20</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algn="r" rtl="0" fontAlgn="b">
                        <a:buNone/>
                      </a:pPr>
                      <a:r>
                        <a:rPr lang="en-US" sz="1100" b="0" i="0" u="none" strike="noStrike">
                          <a:solidFill>
                            <a:srgbClr val="000000"/>
                          </a:solidFill>
                          <a:effectLst/>
                          <a:latin typeface="Calibri" panose="020F0502020204030204" pitchFamily="34" charset="0"/>
                        </a:rPr>
                        <a:t>23.75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24343475"/>
                  </a:ext>
                </a:extLst>
              </a:tr>
              <a:tr h="866398">
                <a:tc>
                  <a:txBody>
                    <a:bodyPr/>
                    <a:lstStyle/>
                    <a:p>
                      <a:pPr rtl="0" fontAlgn="b">
                        <a:buNone/>
                      </a:pPr>
                      <a:r>
                        <a:rPr lang="en-US" sz="1100" b="1" i="0" u="none" strike="noStrike">
                          <a:solidFill>
                            <a:srgbClr val="000000"/>
                          </a:solidFill>
                          <a:effectLst/>
                          <a:latin typeface="Calibri" panose="020F0502020204030204" pitchFamily="34" charset="0"/>
                        </a:rPr>
                        <a:t>Grand Total</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EE8"/>
                    </a:solidFill>
                  </a:tcPr>
                </a:tc>
                <a:tc>
                  <a:txBody>
                    <a:bodyPr/>
                    <a:lstStyle/>
                    <a:p>
                      <a:pPr fontAlgn="b">
                        <a:buNone/>
                      </a:pPr>
                      <a:br>
                        <a:rPr lang="en-US">
                          <a:effectLst/>
                        </a:rPr>
                      </a:b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EE8"/>
                    </a:solidFill>
                  </a:tcPr>
                </a:tc>
                <a:tc>
                  <a:txBody>
                    <a:bodyPr/>
                    <a:lstStyle/>
                    <a:p>
                      <a:pPr algn="r" rtl="0" fontAlgn="b">
                        <a:buNone/>
                      </a:pPr>
                      <a:r>
                        <a:rPr lang="en-US" sz="1100" b="1" i="0" u="none" strike="noStrike">
                          <a:solidFill>
                            <a:srgbClr val="000000"/>
                          </a:solidFill>
                          <a:effectLst/>
                          <a:latin typeface="Calibri" panose="020F0502020204030204" pitchFamily="34" charset="0"/>
                        </a:rPr>
                        <a:t>3074.9636</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EE8"/>
                    </a:solidFill>
                  </a:tcPr>
                </a:tc>
                <a:tc>
                  <a:txBody>
                    <a:bodyPr/>
                    <a:lstStyle/>
                    <a:p>
                      <a:pPr algn="r" rtl="0" fontAlgn="b">
                        <a:buNone/>
                      </a:pPr>
                      <a:r>
                        <a:rPr lang="en-US" sz="1100" b="1" i="0" u="none" strike="noStrike">
                          <a:solidFill>
                            <a:srgbClr val="000000"/>
                          </a:solidFill>
                          <a:effectLst/>
                          <a:latin typeface="Calibri" panose="020F0502020204030204" pitchFamily="34" charset="0"/>
                        </a:rPr>
                        <a:t>3.5072</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EE8"/>
                    </a:solidFill>
                  </a:tcPr>
                </a:tc>
                <a:tc>
                  <a:txBody>
                    <a:bodyPr/>
                    <a:lstStyle/>
                    <a:p>
                      <a:pPr algn="r" rtl="0" fontAlgn="b">
                        <a:buNone/>
                      </a:pPr>
                      <a:r>
                        <a:rPr lang="en-US" sz="1100" b="1" i="0" u="none" strike="noStrike">
                          <a:solidFill>
                            <a:srgbClr val="000000"/>
                          </a:solidFill>
                          <a:effectLst/>
                          <a:latin typeface="Calibri" panose="020F0502020204030204" pitchFamily="34" charset="0"/>
                        </a:rPr>
                        <a:t>125</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EE8"/>
                    </a:solidFill>
                  </a:tcPr>
                </a:tc>
                <a:tc>
                  <a:txBody>
                    <a:bodyPr/>
                    <a:lstStyle/>
                    <a:p>
                      <a:pPr algn="r" rtl="0" fontAlgn="b">
                        <a:buNone/>
                      </a:pPr>
                      <a:r>
                        <a:rPr lang="en-US" sz="1100" b="1" i="0" u="none" strike="noStrike">
                          <a:solidFill>
                            <a:srgbClr val="000000"/>
                          </a:solidFill>
                          <a:effectLst/>
                          <a:latin typeface="Calibri" panose="020F0502020204030204" pitchFamily="34" charset="0"/>
                        </a:rPr>
                        <a:t>554.56</a:t>
                      </a:r>
                      <a:endParaRPr lang="en-US">
                        <a:effectLst/>
                      </a:endParaRPr>
                    </a:p>
                  </a:txBody>
                  <a:tcPr marL="25400" marR="254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EE8"/>
                    </a:solidFill>
                  </a:tcPr>
                </a:tc>
                <a:extLst>
                  <a:ext uri="{0D108BD9-81ED-4DB2-BD59-A6C34878D82A}">
                    <a16:rowId xmlns:a16="http://schemas.microsoft.com/office/drawing/2014/main" val="2708800330"/>
                  </a:ext>
                </a:extLst>
              </a:tr>
            </a:tbl>
          </a:graphicData>
        </a:graphic>
      </p:graphicFrame>
    </p:spTree>
    <p:extLst>
      <p:ext uri="{BB962C8B-B14F-4D97-AF65-F5344CB8AC3E}">
        <p14:creationId xmlns:p14="http://schemas.microsoft.com/office/powerpoint/2010/main" val="1717696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4695-942C-2492-1D95-EC75E11B491F}"/>
              </a:ext>
            </a:extLst>
          </p:cNvPr>
          <p:cNvSpPr>
            <a:spLocks noGrp="1"/>
          </p:cNvSpPr>
          <p:nvPr>
            <p:ph type="title"/>
          </p:nvPr>
        </p:nvSpPr>
        <p:spPr>
          <a:xfrm>
            <a:off x="578898" y="985211"/>
            <a:ext cx="11049000" cy="1084101"/>
          </a:xfrm>
        </p:spPr>
        <p:txBody>
          <a:bodyPr>
            <a:normAutofit fontScale="90000"/>
          </a:bodyPr>
          <a:lstStyle/>
          <a:p>
            <a:r>
              <a:rPr lang="en-US" sz="4200" b="1" dirty="0">
                <a:latin typeface="Century Gothic"/>
              </a:rPr>
              <a:t>Recommendations for Opening New Restaurants</a:t>
            </a:r>
            <a:endParaRPr lang="en-US" dirty="0"/>
          </a:p>
          <a:p>
            <a:br>
              <a:rPr lang="en-US" dirty="0"/>
            </a:br>
            <a:endParaRPr lang="en-US" dirty="0"/>
          </a:p>
        </p:txBody>
      </p:sp>
      <p:sp>
        <p:nvSpPr>
          <p:cNvPr id="6" name="Content Placeholder 5">
            <a:extLst>
              <a:ext uri="{FF2B5EF4-FFF2-40B4-BE49-F238E27FC236}">
                <a16:creationId xmlns:a16="http://schemas.microsoft.com/office/drawing/2014/main" id="{C8E9B10C-50A6-14D6-2A81-CB3CCE47D481}"/>
              </a:ext>
            </a:extLst>
          </p:cNvPr>
          <p:cNvSpPr>
            <a:spLocks noGrp="1"/>
          </p:cNvSpPr>
          <p:nvPr>
            <p:ph idx="1"/>
          </p:nvPr>
        </p:nvSpPr>
        <p:spPr/>
        <p:txBody>
          <a:bodyPr vert="horz" lIns="91440" tIns="45720" rIns="91440" bIns="45720" rtlCol="0" anchor="t">
            <a:normAutofit/>
          </a:bodyPr>
          <a:lstStyle/>
          <a:p>
            <a:r>
              <a:rPr lang="en-US" sz="1800" dirty="0">
                <a:latin typeface="Arial"/>
                <a:cs typeface="Arial"/>
              </a:rPr>
              <a:t>We have made use of a column chart to show the number of restaurants in each country.</a:t>
            </a:r>
            <a:endParaRPr lang="en-US" dirty="0"/>
          </a:p>
          <a:p>
            <a:r>
              <a:rPr lang="en-US" sz="1800" dirty="0">
                <a:latin typeface="Arial"/>
                <a:cs typeface="Arial"/>
              </a:rPr>
              <a:t>While opening restaurants in these cities, various factors such as average rating, average cost for two, cuisines should be considered.</a:t>
            </a:r>
            <a:endParaRPr lang="en-US" dirty="0"/>
          </a:p>
          <a:p>
            <a:r>
              <a:rPr lang="en-US" sz="1800" b="1" dirty="0">
                <a:latin typeface="Arial"/>
                <a:cs typeface="Arial"/>
              </a:rPr>
              <a:t>Recommendation:</a:t>
            </a:r>
            <a:endParaRPr lang="en-US" dirty="0"/>
          </a:p>
          <a:p>
            <a:pPr lvl="1">
              <a:buFont typeface="Avenir Next LT Pro Light" panose="020B0604020202020204" pitchFamily="34" charset="0"/>
              <a:buChar char="–"/>
            </a:pPr>
            <a:r>
              <a:rPr lang="en-US" sz="1600" dirty="0">
                <a:latin typeface="Arial"/>
                <a:cs typeface="Arial"/>
              </a:rPr>
              <a:t>Recommended countries to open new restaurants are Brazil, Singapore, Sri Lanka, United Kingdom, United States of America and India with lesser competition where the average ratings are between 2 and 3 out of 5.</a:t>
            </a:r>
            <a:endParaRPr lang="en-US" dirty="0"/>
          </a:p>
          <a:p>
            <a:pPr lvl="1">
              <a:buFont typeface="Avenir Next LT Pro Light" panose="020B0604020202020204" pitchFamily="34" charset="0"/>
              <a:buChar char="–"/>
            </a:pPr>
            <a:r>
              <a:rPr lang="en-US" sz="1600" dirty="0">
                <a:latin typeface="Arial"/>
                <a:cs typeface="Arial"/>
              </a:rPr>
              <a:t>Also, the average cost per two people ranges from 600 INR (India) to 9850 (INR) in Singapore, which would be a good recommendation to open new restaurants as the ranges of prices in these countries is diverse.</a:t>
            </a:r>
            <a:endParaRPr lang="en-US" dirty="0"/>
          </a:p>
          <a:p>
            <a:endParaRPr lang="en-US" dirty="0"/>
          </a:p>
        </p:txBody>
      </p:sp>
    </p:spTree>
    <p:extLst>
      <p:ext uri="{BB962C8B-B14F-4D97-AF65-F5344CB8AC3E}">
        <p14:creationId xmlns:p14="http://schemas.microsoft.com/office/powerpoint/2010/main" val="706548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0B0D44-1B4A-0592-AAD8-7EF0B7A5C3CD}"/>
              </a:ext>
            </a:extLst>
          </p:cNvPr>
          <p:cNvPicPr>
            <a:picLocks noChangeAspect="1"/>
          </p:cNvPicPr>
          <p:nvPr/>
        </p:nvPicPr>
        <p:blipFill>
          <a:blip r:embed="rId2"/>
          <a:stretch>
            <a:fillRect/>
          </a:stretch>
        </p:blipFill>
        <p:spPr>
          <a:xfrm>
            <a:off x="550447" y="377300"/>
            <a:ext cx="11091105" cy="5837069"/>
          </a:xfrm>
          <a:prstGeom prst="rect">
            <a:avLst/>
          </a:prstGeom>
        </p:spPr>
      </p:pic>
    </p:spTree>
    <p:extLst>
      <p:ext uri="{BB962C8B-B14F-4D97-AF65-F5344CB8AC3E}">
        <p14:creationId xmlns:p14="http://schemas.microsoft.com/office/powerpoint/2010/main" val="1977598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6C7C9-A01F-C4EA-3D61-1BD72B46CD99}"/>
              </a:ext>
            </a:extLst>
          </p:cNvPr>
          <p:cNvSpPr>
            <a:spLocks noGrp="1"/>
          </p:cNvSpPr>
          <p:nvPr>
            <p:ph type="title"/>
          </p:nvPr>
        </p:nvSpPr>
        <p:spPr>
          <a:xfrm>
            <a:off x="571500" y="1175202"/>
            <a:ext cx="11049000" cy="1084101"/>
          </a:xfrm>
        </p:spPr>
        <p:txBody>
          <a:bodyPr>
            <a:normAutofit fontScale="90000"/>
          </a:bodyPr>
          <a:lstStyle/>
          <a:p>
            <a:r>
              <a:rPr lang="en-US" sz="4200" b="1" dirty="0">
                <a:latin typeface="Century Gothic"/>
              </a:rPr>
              <a:t>Suggestions for Opening New Restaurants based on cost and rating</a:t>
            </a:r>
            <a:endParaRPr lang="en-US" dirty="0"/>
          </a:p>
          <a:p>
            <a:br>
              <a:rPr lang="en-US" dirty="0"/>
            </a:br>
            <a:endParaRPr lang="en-US" dirty="0"/>
          </a:p>
        </p:txBody>
      </p:sp>
      <p:sp>
        <p:nvSpPr>
          <p:cNvPr id="3" name="Content Placeholder 2">
            <a:extLst>
              <a:ext uri="{FF2B5EF4-FFF2-40B4-BE49-F238E27FC236}">
                <a16:creationId xmlns:a16="http://schemas.microsoft.com/office/drawing/2014/main" id="{0D22285A-A9E3-1788-0B0F-F80DED4A08DD}"/>
              </a:ext>
            </a:extLst>
          </p:cNvPr>
          <p:cNvSpPr>
            <a:spLocks noGrp="1"/>
          </p:cNvSpPr>
          <p:nvPr>
            <p:ph idx="1"/>
          </p:nvPr>
        </p:nvSpPr>
        <p:spPr/>
        <p:txBody>
          <a:bodyPr vert="horz" lIns="91440" tIns="45720" rIns="91440" bIns="45720" rtlCol="0" anchor="t">
            <a:normAutofit/>
          </a:bodyPr>
          <a:lstStyle/>
          <a:p>
            <a:pPr marL="0" indent="0">
              <a:buNone/>
            </a:pPr>
            <a:r>
              <a:rPr lang="en-US" sz="1800" b="1" dirty="0">
                <a:latin typeface="Arial"/>
                <a:cs typeface="Arial"/>
              </a:rPr>
              <a:t>Rating and Cost comparison of cities where new restaurants can be opened</a:t>
            </a:r>
            <a:endParaRPr lang="en-US" sz="1800" dirty="0">
              <a:latin typeface="Arial"/>
              <a:cs typeface="Arial"/>
            </a:endParaRPr>
          </a:p>
          <a:p>
            <a:endParaRPr lang="en-US" sz="1800" dirty="0">
              <a:latin typeface="Arial"/>
              <a:cs typeface="Arial"/>
            </a:endParaRPr>
          </a:p>
          <a:p>
            <a:r>
              <a:rPr lang="en-US" sz="1800" dirty="0">
                <a:latin typeface="Arial"/>
                <a:cs typeface="Arial"/>
              </a:rPr>
              <a:t>Considering the ratings and the average cost factor new restaurants can be opened in places like </a:t>
            </a:r>
            <a:r>
              <a:rPr lang="en-US" sz="1800" dirty="0" err="1">
                <a:latin typeface="Arial"/>
                <a:cs typeface="Arial"/>
              </a:rPr>
              <a:t>Brasi_lia</a:t>
            </a:r>
            <a:r>
              <a:rPr lang="en-US" sz="1800" dirty="0">
                <a:latin typeface="Arial"/>
                <a:cs typeface="Arial"/>
              </a:rPr>
              <a:t> (Brazil), Ghaziabad (India), Colombo (Sri Lanka) where the number of restaurants in these cities range between 20 to 25. </a:t>
            </a:r>
            <a:endParaRPr lang="en-US"/>
          </a:p>
          <a:p>
            <a:r>
              <a:rPr lang="en-US" sz="1800" dirty="0">
                <a:latin typeface="Arial"/>
                <a:cs typeface="Arial"/>
              </a:rPr>
              <a:t>The average customer ratings in these cities ranges between 2.9 and 3.5 with India having the least rating of 2.9 and USA having the highest rating of 3.5. </a:t>
            </a:r>
            <a:endParaRPr lang="en-US" dirty="0"/>
          </a:p>
          <a:p>
            <a:endParaRPr lang="en-US" dirty="0"/>
          </a:p>
        </p:txBody>
      </p:sp>
    </p:spTree>
    <p:extLst>
      <p:ext uri="{BB962C8B-B14F-4D97-AF65-F5344CB8AC3E}">
        <p14:creationId xmlns:p14="http://schemas.microsoft.com/office/powerpoint/2010/main" val="3252714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D4709C6D-C328-F6DF-2CA7-6C24CF03BEAF}"/>
              </a:ext>
            </a:extLst>
          </p:cNvPr>
          <p:cNvGraphicFramePr>
            <a:graphicFrameLocks noGrp="1"/>
          </p:cNvGraphicFramePr>
          <p:nvPr>
            <p:ph idx="4294967295"/>
            <p:extLst>
              <p:ext uri="{D42A27DB-BD31-4B8C-83A1-F6EECF244321}">
                <p14:modId xmlns:p14="http://schemas.microsoft.com/office/powerpoint/2010/main" val="1679684983"/>
              </p:ext>
            </p:extLst>
          </p:nvPr>
        </p:nvGraphicFramePr>
        <p:xfrm>
          <a:off x="569636" y="1188683"/>
          <a:ext cx="11060112" cy="4114800"/>
        </p:xfrm>
        <a:graphic>
          <a:graphicData uri="http://schemas.openxmlformats.org/drawingml/2006/table">
            <a:tbl>
              <a:tblPr bandRow="1">
                <a:tableStyleId>{5C22544A-7EE6-4342-B048-85BDC9FD1C3A}</a:tableStyleId>
              </a:tblPr>
              <a:tblGrid>
                <a:gridCol w="2765028">
                  <a:extLst>
                    <a:ext uri="{9D8B030D-6E8A-4147-A177-3AD203B41FA5}">
                      <a16:colId xmlns:a16="http://schemas.microsoft.com/office/drawing/2014/main" val="1872149901"/>
                    </a:ext>
                  </a:extLst>
                </a:gridCol>
                <a:gridCol w="2765028">
                  <a:extLst>
                    <a:ext uri="{9D8B030D-6E8A-4147-A177-3AD203B41FA5}">
                      <a16:colId xmlns:a16="http://schemas.microsoft.com/office/drawing/2014/main" val="2359611275"/>
                    </a:ext>
                  </a:extLst>
                </a:gridCol>
                <a:gridCol w="2765028">
                  <a:extLst>
                    <a:ext uri="{9D8B030D-6E8A-4147-A177-3AD203B41FA5}">
                      <a16:colId xmlns:a16="http://schemas.microsoft.com/office/drawing/2014/main" val="547085931"/>
                    </a:ext>
                  </a:extLst>
                </a:gridCol>
                <a:gridCol w="2765028">
                  <a:extLst>
                    <a:ext uri="{9D8B030D-6E8A-4147-A177-3AD203B41FA5}">
                      <a16:colId xmlns:a16="http://schemas.microsoft.com/office/drawing/2014/main" val="3694016296"/>
                    </a:ext>
                  </a:extLst>
                </a:gridCol>
              </a:tblGrid>
              <a:tr h="190500">
                <a:tc>
                  <a:txBody>
                    <a:bodyPr/>
                    <a:lstStyle/>
                    <a:p>
                      <a:pPr rtl="0" fontAlgn="b">
                        <a:buNone/>
                      </a:pPr>
                      <a:r>
                        <a:rPr lang="en-US" i="1">
                          <a:effectLst/>
                        </a:rPr>
                        <a:t>City</a:t>
                      </a:r>
                    </a:p>
                  </a:txBody>
                  <a:tcPr marL="28575" marR="28575" marT="0" marB="0" anchor="b">
                    <a:lnL>
                      <a:noFill/>
                    </a:lnL>
                    <a:lnR>
                      <a:noFill/>
                    </a:lnR>
                    <a:lnT>
                      <a:noFill/>
                    </a:lnT>
                    <a:lnB w="28575" cap="flat" cmpd="sng" algn="ctr">
                      <a:solidFill>
                        <a:srgbClr val="657BA3"/>
                      </a:solidFill>
                      <a:prstDash val="solid"/>
                      <a:round/>
                      <a:headEnd type="none" w="med" len="med"/>
                      <a:tailEnd type="none" w="med" len="med"/>
                    </a:lnB>
                    <a:solidFill>
                      <a:srgbClr val="D8DEE8"/>
                    </a:solidFill>
                  </a:tcPr>
                </a:tc>
                <a:tc>
                  <a:txBody>
                    <a:bodyPr/>
                    <a:lstStyle/>
                    <a:p>
                      <a:pPr rtl="0" fontAlgn="b">
                        <a:buNone/>
                      </a:pPr>
                      <a:r>
                        <a:rPr lang="en-US" i="1">
                          <a:effectLst/>
                        </a:rPr>
                        <a:t>Country Name</a:t>
                      </a:r>
                    </a:p>
                  </a:txBody>
                  <a:tcPr marL="28575" marR="28575" marT="0" marB="0" anchor="b">
                    <a:lnL>
                      <a:noFill/>
                    </a:lnL>
                    <a:lnR>
                      <a:noFill/>
                    </a:lnR>
                    <a:lnT>
                      <a:noFill/>
                    </a:lnT>
                    <a:lnB w="28575" cap="flat" cmpd="sng" algn="ctr">
                      <a:solidFill>
                        <a:srgbClr val="657BA3"/>
                      </a:solidFill>
                      <a:prstDash val="solid"/>
                      <a:round/>
                      <a:headEnd type="none" w="med" len="med"/>
                      <a:tailEnd type="none" w="med" len="med"/>
                    </a:lnB>
                    <a:solidFill>
                      <a:srgbClr val="D8DEE8"/>
                    </a:solidFill>
                  </a:tcPr>
                </a:tc>
                <a:tc>
                  <a:txBody>
                    <a:bodyPr/>
                    <a:lstStyle/>
                    <a:p>
                      <a:pPr rtl="0" fontAlgn="b">
                        <a:buNone/>
                      </a:pPr>
                      <a:r>
                        <a:rPr lang="en-US">
                          <a:solidFill>
                            <a:srgbClr val="FFFFFF"/>
                          </a:solidFill>
                          <a:effectLst/>
                        </a:rPr>
                        <a:t>AVERAGE of average cost for two(in Indian Rupees)</a:t>
                      </a:r>
                    </a:p>
                  </a:txBody>
                  <a:tcPr marL="28575" marR="28575" marT="0" marB="0" anchor="b">
                    <a:lnL>
                      <a:noFill/>
                    </a:lnL>
                    <a:lnR>
                      <a:noFill/>
                    </a:lnR>
                    <a:lnT>
                      <a:noFill/>
                    </a:lnT>
                    <a:lnB w="28575" cap="flat" cmpd="sng" algn="ctr">
                      <a:solidFill>
                        <a:srgbClr val="657BA3"/>
                      </a:solidFill>
                      <a:prstDash val="solid"/>
                      <a:round/>
                      <a:headEnd type="none" w="med" len="med"/>
                      <a:tailEnd type="none" w="med" len="med"/>
                    </a:lnB>
                    <a:solidFill>
                      <a:srgbClr val="657BA3"/>
                    </a:solidFill>
                  </a:tcPr>
                </a:tc>
                <a:tc>
                  <a:txBody>
                    <a:bodyPr/>
                    <a:lstStyle/>
                    <a:p>
                      <a:pPr rtl="0" fontAlgn="b">
                        <a:buNone/>
                      </a:pPr>
                      <a:r>
                        <a:rPr lang="en-US">
                          <a:solidFill>
                            <a:srgbClr val="FFFFFF"/>
                          </a:solidFill>
                          <a:effectLst/>
                        </a:rPr>
                        <a:t>AVERAGE of Rating</a:t>
                      </a:r>
                    </a:p>
                  </a:txBody>
                  <a:tcPr marL="28575" marR="28575" marT="0" marB="0" anchor="b">
                    <a:lnL>
                      <a:noFill/>
                    </a:lnL>
                    <a:lnR>
                      <a:noFill/>
                    </a:lnR>
                    <a:lnT>
                      <a:noFill/>
                    </a:lnT>
                    <a:lnB w="28575" cap="flat" cmpd="sng" algn="ctr">
                      <a:solidFill>
                        <a:srgbClr val="657BA3"/>
                      </a:solidFill>
                      <a:prstDash val="solid"/>
                      <a:round/>
                      <a:headEnd type="none" w="med" len="med"/>
                      <a:tailEnd type="none" w="med" len="med"/>
                    </a:lnB>
                    <a:solidFill>
                      <a:srgbClr val="657BA3"/>
                    </a:solidFill>
                  </a:tcPr>
                </a:tc>
                <a:extLst>
                  <a:ext uri="{0D108BD9-81ED-4DB2-BD59-A6C34878D82A}">
                    <a16:rowId xmlns:a16="http://schemas.microsoft.com/office/drawing/2014/main" val="1174444173"/>
                  </a:ext>
                </a:extLst>
              </a:tr>
              <a:tr h="190500">
                <a:tc>
                  <a:txBody>
                    <a:bodyPr/>
                    <a:lstStyle/>
                    <a:p>
                      <a:pPr rtl="0" fontAlgn="b">
                        <a:buNone/>
                      </a:pPr>
                      <a:r>
                        <a:rPr lang="en-US">
                          <a:effectLst/>
                        </a:rPr>
                        <a:t>Birmingham</a:t>
                      </a:r>
                    </a:p>
                  </a:txBody>
                  <a:tcPr marL="28575" marR="28575" marT="0" marB="0" anchor="b">
                    <a:lnL>
                      <a:noFill/>
                    </a:lnL>
                    <a:lnR w="9525" cap="flat" cmpd="sng" algn="ctr">
                      <a:solidFill>
                        <a:srgbClr val="FFFFFF"/>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7"/>
                    </a:solidFill>
                  </a:tcPr>
                </a:tc>
                <a:tc>
                  <a:txBody>
                    <a:bodyPr/>
                    <a:lstStyle/>
                    <a:p>
                      <a:pPr rtl="0" fontAlgn="b">
                        <a:buNone/>
                      </a:pPr>
                      <a:r>
                        <a:rPr lang="en-US">
                          <a:effectLst/>
                        </a:rPr>
                        <a:t>United Kingdom</a:t>
                      </a:r>
                    </a:p>
                  </a:txBody>
                  <a:tcPr marL="28575" marR="28575" marT="0" marB="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657BA3"/>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7"/>
                    </a:solidFill>
                  </a:tcPr>
                </a:tc>
                <a:tc>
                  <a:txBody>
                    <a:bodyPr/>
                    <a:lstStyle/>
                    <a:p>
                      <a:pPr algn="r" rtl="0" fontAlgn="b">
                        <a:buNone/>
                      </a:pPr>
                      <a:r>
                        <a:rPr lang="en-US">
                          <a:effectLst/>
                        </a:rPr>
                        <a:t>4165.98</a:t>
                      </a:r>
                    </a:p>
                  </a:txBody>
                  <a:tcPr marL="28575" marR="28575" marT="0" marB="0" anchor="b">
                    <a:lnL w="9525" cap="flat" cmpd="sng" algn="ctr">
                      <a:solidFill>
                        <a:srgbClr val="FFFFFF"/>
                      </a:solidFill>
                      <a:prstDash val="solid"/>
                      <a:round/>
                      <a:headEnd type="none" w="med" len="med"/>
                      <a:tailEnd type="none" w="med" len="med"/>
                    </a:lnL>
                    <a:lnR>
                      <a:noFill/>
                    </a:lnR>
                    <a:lnT w="28575" cap="flat" cmpd="sng" algn="ctr">
                      <a:solidFill>
                        <a:srgbClr val="657BA3"/>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r" rtl="0" fontAlgn="b">
                        <a:buNone/>
                      </a:pPr>
                      <a:r>
                        <a:rPr lang="en-US">
                          <a:effectLst/>
                        </a:rPr>
                        <a:t>3.73</a:t>
                      </a:r>
                    </a:p>
                  </a:txBody>
                  <a:tcPr marL="28575" marR="28575" marT="0" marB="0" anchor="b">
                    <a:lnL>
                      <a:noFill/>
                    </a:lnL>
                    <a:lnR>
                      <a:noFill/>
                    </a:lnR>
                    <a:lnT w="28575" cap="flat" cmpd="sng" algn="ctr">
                      <a:solidFill>
                        <a:srgbClr val="657BA3"/>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743221666"/>
                  </a:ext>
                </a:extLst>
              </a:tr>
              <a:tr h="190500">
                <a:tc>
                  <a:txBody>
                    <a:bodyPr/>
                    <a:lstStyle/>
                    <a:p>
                      <a:pPr rtl="0" fontAlgn="b">
                        <a:buNone/>
                      </a:pPr>
                      <a:r>
                        <a:rPr lang="en-US">
                          <a:effectLst/>
                        </a:rPr>
                        <a:t>Birmingham Total</a:t>
                      </a:r>
                    </a:p>
                  </a:txBody>
                  <a:tcPr marL="0" marR="0"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rtl="0" fontAlgn="b">
                        <a:buNone/>
                      </a:pPr>
                      <a:endParaRPr lang="en-US">
                        <a:effectLst/>
                      </a:endParaRP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4165.98</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3.73</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extLst>
                  <a:ext uri="{0D108BD9-81ED-4DB2-BD59-A6C34878D82A}">
                    <a16:rowId xmlns:a16="http://schemas.microsoft.com/office/drawing/2014/main" val="3745903325"/>
                  </a:ext>
                </a:extLst>
              </a:tr>
              <a:tr h="190500">
                <a:tc>
                  <a:txBody>
                    <a:bodyPr/>
                    <a:lstStyle/>
                    <a:p>
                      <a:pPr rtl="0" fontAlgn="b">
                        <a:buNone/>
                      </a:pPr>
                      <a:r>
                        <a:rPr lang="en-US">
                          <a:effectLst/>
                        </a:rPr>
                        <a:t>Brasí_lia</a:t>
                      </a:r>
                    </a:p>
                  </a:txBody>
                  <a:tcPr marL="28575" marR="28575" marT="0" marB="0" anchor="b">
                    <a:lnL>
                      <a:noFill/>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rtl="0" fontAlgn="b">
                        <a:buNone/>
                      </a:pPr>
                      <a:r>
                        <a:rPr lang="en-US">
                          <a:effectLst/>
                        </a:rPr>
                        <a:t>Brazil</a:t>
                      </a:r>
                    </a:p>
                  </a:txBody>
                  <a:tcPr marL="28575" marR="28575" marT="0" marB="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algn="r" rtl="0" fontAlgn="b">
                        <a:buNone/>
                      </a:pPr>
                      <a:r>
                        <a:rPr lang="en-US">
                          <a:effectLst/>
                        </a:rPr>
                        <a:t>1791.6</a:t>
                      </a:r>
                    </a:p>
                  </a:txBody>
                  <a:tcPr marL="28575" marR="28575" marT="0" marB="0" anchor="b">
                    <a:lnL w="9525" cap="flat" cmpd="sng" algn="ctr">
                      <a:solidFill>
                        <a:srgbClr val="FFFFFF"/>
                      </a:solidFill>
                      <a:prstDash val="solid"/>
                      <a:round/>
                      <a:headEnd type="none" w="med" len="med"/>
                      <a:tailEnd type="none" w="med" len="med"/>
                    </a:lnL>
                    <a:lnR>
                      <a:noFill/>
                    </a:lnR>
                    <a:lnT>
                      <a:noFill/>
                    </a:lnT>
                    <a:lnB w="9525" cap="flat" cmpd="sng" algn="ctr">
                      <a:solidFill>
                        <a:srgbClr val="FFFFFF"/>
                      </a:solidFill>
                      <a:prstDash val="solid"/>
                      <a:round/>
                      <a:headEnd type="none" w="med" len="med"/>
                      <a:tailEnd type="none" w="med" len="med"/>
                    </a:lnB>
                    <a:solidFill>
                      <a:srgbClr val="FFFFFF"/>
                    </a:solidFill>
                  </a:tcPr>
                </a:tc>
                <a:tc>
                  <a:txBody>
                    <a:bodyPr/>
                    <a:lstStyle/>
                    <a:p>
                      <a:pPr algn="r" rtl="0" fontAlgn="b">
                        <a:buNone/>
                      </a:pPr>
                      <a:r>
                        <a:rPr lang="en-US">
                          <a:effectLst/>
                        </a:rPr>
                        <a:t>3.545</a:t>
                      </a:r>
                    </a:p>
                  </a:txBody>
                  <a:tcPr marL="28575" marR="28575" marT="0" marB="0" anchor="b">
                    <a:lnL>
                      <a:noFill/>
                    </a:lnL>
                    <a:lnR>
                      <a:noFill/>
                    </a:lnR>
                    <a:lnT>
                      <a:noFill/>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896825002"/>
                  </a:ext>
                </a:extLst>
              </a:tr>
              <a:tr h="190500">
                <a:tc>
                  <a:txBody>
                    <a:bodyPr/>
                    <a:lstStyle/>
                    <a:p>
                      <a:pPr rtl="0" fontAlgn="b">
                        <a:buNone/>
                      </a:pPr>
                      <a:r>
                        <a:rPr lang="en-US">
                          <a:effectLst/>
                        </a:rPr>
                        <a:t>Brasí_lia Total</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rtl="0" fontAlgn="b">
                        <a:buNone/>
                      </a:pPr>
                      <a:endParaRPr lang="en-US">
                        <a:effectLst/>
                      </a:endParaRP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1791.6</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3.545</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extLst>
                  <a:ext uri="{0D108BD9-81ED-4DB2-BD59-A6C34878D82A}">
                    <a16:rowId xmlns:a16="http://schemas.microsoft.com/office/drawing/2014/main" val="2164511959"/>
                  </a:ext>
                </a:extLst>
              </a:tr>
              <a:tr h="190500">
                <a:tc>
                  <a:txBody>
                    <a:bodyPr/>
                    <a:lstStyle/>
                    <a:p>
                      <a:pPr rtl="0" fontAlgn="b">
                        <a:buNone/>
                      </a:pPr>
                      <a:r>
                        <a:rPr lang="en-US">
                          <a:effectLst/>
                        </a:rPr>
                        <a:t>Colombo</a:t>
                      </a:r>
                    </a:p>
                  </a:txBody>
                  <a:tcPr marL="28575" marR="28575" marT="0" marB="0" anchor="b">
                    <a:lnL>
                      <a:noFill/>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rtl="0" fontAlgn="b">
                        <a:buNone/>
                      </a:pPr>
                      <a:r>
                        <a:rPr lang="en-US">
                          <a:effectLst/>
                        </a:rPr>
                        <a:t>Sri Lanka</a:t>
                      </a:r>
                    </a:p>
                  </a:txBody>
                  <a:tcPr marL="28575" marR="28575" marT="0" marB="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algn="r" rtl="0" fontAlgn="b">
                        <a:buNone/>
                      </a:pPr>
                      <a:r>
                        <a:rPr lang="en-US">
                          <a:effectLst/>
                        </a:rPr>
                        <a:t>665</a:t>
                      </a:r>
                    </a:p>
                  </a:txBody>
                  <a:tcPr marL="28575" marR="28575" marT="0" marB="0" anchor="b">
                    <a:lnL w="9525" cap="flat" cmpd="sng" algn="ctr">
                      <a:solidFill>
                        <a:srgbClr val="FFFFFF"/>
                      </a:solidFill>
                      <a:prstDash val="solid"/>
                      <a:round/>
                      <a:headEnd type="none" w="med" len="med"/>
                      <a:tailEnd type="none" w="med" len="med"/>
                    </a:lnL>
                    <a:lnR>
                      <a:noFill/>
                    </a:lnR>
                    <a:lnT>
                      <a:noFill/>
                    </a:lnT>
                    <a:lnB w="9525" cap="flat" cmpd="sng" algn="ctr">
                      <a:solidFill>
                        <a:srgbClr val="FFFFFF"/>
                      </a:solidFill>
                      <a:prstDash val="solid"/>
                      <a:round/>
                      <a:headEnd type="none" w="med" len="med"/>
                      <a:tailEnd type="none" w="med" len="med"/>
                    </a:lnB>
                    <a:solidFill>
                      <a:srgbClr val="FFFFFF"/>
                    </a:solidFill>
                  </a:tcPr>
                </a:tc>
                <a:tc>
                  <a:txBody>
                    <a:bodyPr/>
                    <a:lstStyle/>
                    <a:p>
                      <a:pPr algn="r" rtl="0" fontAlgn="b">
                        <a:buNone/>
                      </a:pPr>
                      <a:r>
                        <a:rPr lang="en-US">
                          <a:effectLst/>
                        </a:rPr>
                        <a:t>3.87</a:t>
                      </a:r>
                    </a:p>
                  </a:txBody>
                  <a:tcPr marL="28575" marR="28575" marT="0" marB="0" anchor="b">
                    <a:lnL>
                      <a:noFill/>
                    </a:lnL>
                    <a:lnR>
                      <a:noFill/>
                    </a:lnR>
                    <a:lnT>
                      <a:noFill/>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744014505"/>
                  </a:ext>
                </a:extLst>
              </a:tr>
              <a:tr h="190500">
                <a:tc>
                  <a:txBody>
                    <a:bodyPr/>
                    <a:lstStyle/>
                    <a:p>
                      <a:pPr rtl="0" fontAlgn="b">
                        <a:buNone/>
                      </a:pPr>
                      <a:r>
                        <a:rPr lang="en-US">
                          <a:effectLst/>
                        </a:rPr>
                        <a:t>Colombo Total</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rtl="0" fontAlgn="b">
                        <a:buNone/>
                      </a:pPr>
                      <a:endParaRPr lang="en-US">
                        <a:effectLst/>
                      </a:endParaRP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665</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3.87</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extLst>
                  <a:ext uri="{0D108BD9-81ED-4DB2-BD59-A6C34878D82A}">
                    <a16:rowId xmlns:a16="http://schemas.microsoft.com/office/drawing/2014/main" val="4149914116"/>
                  </a:ext>
                </a:extLst>
              </a:tr>
              <a:tr h="190500">
                <a:tc>
                  <a:txBody>
                    <a:bodyPr/>
                    <a:lstStyle/>
                    <a:p>
                      <a:pPr rtl="0" fontAlgn="b">
                        <a:buNone/>
                      </a:pPr>
                      <a:r>
                        <a:rPr lang="en-US">
                          <a:effectLst/>
                        </a:rPr>
                        <a:t>Dubuque</a:t>
                      </a:r>
                    </a:p>
                  </a:txBody>
                  <a:tcPr marL="28575" marR="28575" marT="0" marB="0" anchor="b">
                    <a:lnL>
                      <a:noFill/>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rtl="0" fontAlgn="b">
                        <a:buNone/>
                      </a:pPr>
                      <a:r>
                        <a:rPr lang="en-US">
                          <a:effectLst/>
                        </a:rPr>
                        <a:t>United States of America</a:t>
                      </a:r>
                    </a:p>
                  </a:txBody>
                  <a:tcPr marL="28575" marR="28575" marT="0" marB="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algn="r" rtl="0" fontAlgn="b">
                        <a:buNone/>
                      </a:pPr>
                      <a:r>
                        <a:rPr lang="en-US">
                          <a:effectLst/>
                        </a:rPr>
                        <a:t>1993.8125</a:t>
                      </a:r>
                    </a:p>
                  </a:txBody>
                  <a:tcPr marL="28575" marR="28575" marT="0" marB="0" anchor="b">
                    <a:lnL w="9525" cap="flat" cmpd="sng" algn="ctr">
                      <a:solidFill>
                        <a:srgbClr val="FFFFFF"/>
                      </a:solidFill>
                      <a:prstDash val="solid"/>
                      <a:round/>
                      <a:headEnd type="none" w="med" len="med"/>
                      <a:tailEnd type="none" w="med" len="med"/>
                    </a:lnL>
                    <a:lnR>
                      <a:noFill/>
                    </a:lnR>
                    <a:lnT>
                      <a:noFill/>
                    </a:lnT>
                    <a:lnB w="9525" cap="flat" cmpd="sng" algn="ctr">
                      <a:solidFill>
                        <a:srgbClr val="FFFFFF"/>
                      </a:solidFill>
                      <a:prstDash val="solid"/>
                      <a:round/>
                      <a:headEnd type="none" w="med" len="med"/>
                      <a:tailEnd type="none" w="med" len="med"/>
                    </a:lnB>
                    <a:solidFill>
                      <a:srgbClr val="FFFFFF"/>
                    </a:solidFill>
                  </a:tcPr>
                </a:tc>
                <a:tc>
                  <a:txBody>
                    <a:bodyPr/>
                    <a:lstStyle/>
                    <a:p>
                      <a:pPr algn="r" rtl="0" fontAlgn="b">
                        <a:buNone/>
                      </a:pPr>
                      <a:r>
                        <a:rPr lang="en-US">
                          <a:effectLst/>
                        </a:rPr>
                        <a:t>3.535</a:t>
                      </a:r>
                    </a:p>
                  </a:txBody>
                  <a:tcPr marL="28575" marR="28575" marT="0" marB="0" anchor="b">
                    <a:lnL>
                      <a:noFill/>
                    </a:lnL>
                    <a:lnR>
                      <a:noFill/>
                    </a:lnR>
                    <a:lnT>
                      <a:noFill/>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53847293"/>
                  </a:ext>
                </a:extLst>
              </a:tr>
              <a:tr h="190500">
                <a:tc>
                  <a:txBody>
                    <a:bodyPr/>
                    <a:lstStyle/>
                    <a:p>
                      <a:pPr rtl="0" fontAlgn="b">
                        <a:buNone/>
                      </a:pPr>
                      <a:r>
                        <a:rPr lang="en-US">
                          <a:effectLst/>
                        </a:rPr>
                        <a:t>Dubuque Total</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rtl="0" fontAlgn="b">
                        <a:buNone/>
                      </a:pPr>
                      <a:endParaRPr lang="en-US">
                        <a:effectLst/>
                      </a:endParaRP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1993.8125</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3.535</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extLst>
                  <a:ext uri="{0D108BD9-81ED-4DB2-BD59-A6C34878D82A}">
                    <a16:rowId xmlns:a16="http://schemas.microsoft.com/office/drawing/2014/main" val="983572282"/>
                  </a:ext>
                </a:extLst>
              </a:tr>
              <a:tr h="190500">
                <a:tc>
                  <a:txBody>
                    <a:bodyPr/>
                    <a:lstStyle/>
                    <a:p>
                      <a:pPr rtl="0" fontAlgn="b">
                        <a:buNone/>
                      </a:pPr>
                      <a:r>
                        <a:rPr lang="en-US">
                          <a:effectLst/>
                        </a:rPr>
                        <a:t>Ghaziabad</a:t>
                      </a:r>
                    </a:p>
                  </a:txBody>
                  <a:tcPr marL="28575" marR="28575" marT="0" marB="0" anchor="b">
                    <a:lnL>
                      <a:noFill/>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rtl="0" fontAlgn="b">
                        <a:buNone/>
                      </a:pPr>
                      <a:r>
                        <a:rPr lang="en-US">
                          <a:effectLst/>
                        </a:rPr>
                        <a:t>India</a:t>
                      </a:r>
                    </a:p>
                  </a:txBody>
                  <a:tcPr marL="28575" marR="28575" marT="0" marB="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algn="r" rtl="0" fontAlgn="b">
                        <a:buNone/>
                      </a:pPr>
                      <a:r>
                        <a:rPr lang="en-US">
                          <a:effectLst/>
                        </a:rPr>
                        <a:t>602</a:t>
                      </a:r>
                    </a:p>
                  </a:txBody>
                  <a:tcPr marL="28575" marR="28575" marT="0" marB="0" anchor="b">
                    <a:lnL w="9525" cap="flat" cmpd="sng" algn="ctr">
                      <a:solidFill>
                        <a:srgbClr val="FFFFFF"/>
                      </a:solidFill>
                      <a:prstDash val="solid"/>
                      <a:round/>
                      <a:headEnd type="none" w="med" len="med"/>
                      <a:tailEnd type="none" w="med" len="med"/>
                    </a:lnL>
                    <a:lnR>
                      <a:noFill/>
                    </a:lnR>
                    <a:lnT>
                      <a:noFill/>
                    </a:lnT>
                    <a:lnB w="9525" cap="flat" cmpd="sng" algn="ctr">
                      <a:solidFill>
                        <a:srgbClr val="FFFFFF"/>
                      </a:solidFill>
                      <a:prstDash val="solid"/>
                      <a:round/>
                      <a:headEnd type="none" w="med" len="med"/>
                      <a:tailEnd type="none" w="med" len="med"/>
                    </a:lnB>
                    <a:solidFill>
                      <a:srgbClr val="FFFFFF"/>
                    </a:solidFill>
                  </a:tcPr>
                </a:tc>
                <a:tc>
                  <a:txBody>
                    <a:bodyPr/>
                    <a:lstStyle/>
                    <a:p>
                      <a:pPr algn="r" rtl="0" fontAlgn="b">
                        <a:buNone/>
                      </a:pPr>
                      <a:r>
                        <a:rPr lang="en-US">
                          <a:effectLst/>
                        </a:rPr>
                        <a:t>2.932</a:t>
                      </a:r>
                    </a:p>
                  </a:txBody>
                  <a:tcPr marL="28575" marR="28575" marT="0" marB="0" anchor="b">
                    <a:lnL>
                      <a:noFill/>
                    </a:lnL>
                    <a:lnR>
                      <a:noFill/>
                    </a:lnR>
                    <a:lnT>
                      <a:noFill/>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4077204300"/>
                  </a:ext>
                </a:extLst>
              </a:tr>
              <a:tr h="190500">
                <a:tc>
                  <a:txBody>
                    <a:bodyPr/>
                    <a:lstStyle/>
                    <a:p>
                      <a:pPr rtl="0" fontAlgn="b">
                        <a:buNone/>
                      </a:pPr>
                      <a:r>
                        <a:rPr lang="en-US">
                          <a:effectLst/>
                        </a:rPr>
                        <a:t>Ghaziabad Total</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rtl="0" fontAlgn="b">
                        <a:buNone/>
                      </a:pPr>
                      <a:endParaRPr lang="en-US">
                        <a:effectLst/>
                      </a:endParaRP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602</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tc>
                  <a:txBody>
                    <a:bodyPr/>
                    <a:lstStyle/>
                    <a:p>
                      <a:pPr algn="r" rtl="0" fontAlgn="b">
                        <a:buNone/>
                      </a:pPr>
                      <a:r>
                        <a:rPr lang="en-US">
                          <a:effectLst/>
                        </a:rPr>
                        <a:t>2.932</a:t>
                      </a:r>
                    </a:p>
                  </a:txBody>
                  <a:tcPr marL="28575" marR="28575" marT="0" marB="0" anchor="b">
                    <a:lnL>
                      <a:noFill/>
                    </a:lnL>
                    <a:lnR>
                      <a:noFill/>
                    </a:lnR>
                    <a:lnT w="9525" cap="flat" cmpd="sng" algn="ctr">
                      <a:solidFill>
                        <a:srgbClr val="FFFFFF"/>
                      </a:solidFill>
                      <a:prstDash val="solid"/>
                      <a:round/>
                      <a:headEnd type="none" w="med" len="med"/>
                      <a:tailEnd type="none" w="med" len="med"/>
                    </a:lnT>
                    <a:lnB>
                      <a:noFill/>
                    </a:lnB>
                    <a:solidFill>
                      <a:srgbClr val="D8DEE8"/>
                    </a:solidFill>
                  </a:tcPr>
                </a:tc>
                <a:extLst>
                  <a:ext uri="{0D108BD9-81ED-4DB2-BD59-A6C34878D82A}">
                    <a16:rowId xmlns:a16="http://schemas.microsoft.com/office/drawing/2014/main" val="1480676216"/>
                  </a:ext>
                </a:extLst>
              </a:tr>
              <a:tr h="190500">
                <a:tc>
                  <a:txBody>
                    <a:bodyPr/>
                    <a:lstStyle/>
                    <a:p>
                      <a:pPr rtl="0" fontAlgn="b">
                        <a:buNone/>
                      </a:pPr>
                      <a:r>
                        <a:rPr lang="en-US">
                          <a:effectLst/>
                        </a:rPr>
                        <a:t>Singapore</a:t>
                      </a:r>
                    </a:p>
                  </a:txBody>
                  <a:tcPr marL="28575" marR="28575" marT="0" marB="0" anchor="b">
                    <a:lnL>
                      <a:noFill/>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rtl="0" fontAlgn="b">
                        <a:buNone/>
                      </a:pPr>
                      <a:r>
                        <a:rPr lang="en-US">
                          <a:effectLst/>
                        </a:rPr>
                        <a:t>Singapore</a:t>
                      </a:r>
                    </a:p>
                  </a:txBody>
                  <a:tcPr marL="28575" marR="28575" marT="0" marB="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solidFill>
                      <a:srgbClr val="F2F4F7"/>
                    </a:solidFill>
                  </a:tcPr>
                </a:tc>
                <a:tc>
                  <a:txBody>
                    <a:bodyPr/>
                    <a:lstStyle/>
                    <a:p>
                      <a:pPr algn="r" rtl="0" fontAlgn="b">
                        <a:buNone/>
                      </a:pPr>
                      <a:r>
                        <a:rPr lang="en-US">
                          <a:effectLst/>
                        </a:rPr>
                        <a:t>9849.63</a:t>
                      </a:r>
                    </a:p>
                  </a:txBody>
                  <a:tcPr marL="28575" marR="28575" marT="0" marB="0" anchor="b">
                    <a:lnL w="9525" cap="flat" cmpd="sng" algn="ctr">
                      <a:solidFill>
                        <a:srgbClr val="FFFFFF"/>
                      </a:solidFill>
                      <a:prstDash val="solid"/>
                      <a:round/>
                      <a:headEnd type="none" w="med" len="med"/>
                      <a:tailEnd type="none" w="med" len="med"/>
                    </a:lnL>
                    <a:lnR>
                      <a:noFill/>
                    </a:lnR>
                    <a:lnT>
                      <a:noFill/>
                    </a:lnT>
                    <a:lnB w="9525" cap="flat" cmpd="sng" algn="ctr">
                      <a:solidFill>
                        <a:srgbClr val="FFFFFF"/>
                      </a:solidFill>
                      <a:prstDash val="solid"/>
                      <a:round/>
                      <a:headEnd type="none" w="med" len="med"/>
                      <a:tailEnd type="none" w="med" len="med"/>
                    </a:lnB>
                    <a:solidFill>
                      <a:srgbClr val="FFFFFF"/>
                    </a:solidFill>
                  </a:tcPr>
                </a:tc>
                <a:tc>
                  <a:txBody>
                    <a:bodyPr/>
                    <a:lstStyle/>
                    <a:p>
                      <a:pPr algn="r" rtl="0" fontAlgn="b">
                        <a:buNone/>
                      </a:pPr>
                      <a:r>
                        <a:rPr lang="en-US">
                          <a:effectLst/>
                        </a:rPr>
                        <a:t>3.575</a:t>
                      </a:r>
                    </a:p>
                  </a:txBody>
                  <a:tcPr marL="28575" marR="28575" marT="0" marB="0" anchor="b">
                    <a:lnL>
                      <a:noFill/>
                    </a:lnL>
                    <a:lnR>
                      <a:noFill/>
                    </a:lnR>
                    <a:lnT>
                      <a:noFill/>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351267594"/>
                  </a:ext>
                </a:extLst>
              </a:tr>
              <a:tr h="190500">
                <a:tc>
                  <a:txBody>
                    <a:bodyPr/>
                    <a:lstStyle/>
                    <a:p>
                      <a:pPr rtl="0" fontAlgn="b">
                        <a:buNone/>
                      </a:pPr>
                      <a:r>
                        <a:rPr lang="en-US">
                          <a:effectLst/>
                        </a:rPr>
                        <a:t>Singapore Total</a:t>
                      </a:r>
                    </a:p>
                  </a:txBody>
                  <a:tcPr marL="28575" marR="28575" marT="0" marB="0" anchor="b">
                    <a:lnL>
                      <a:noFill/>
                    </a:lnL>
                    <a:lnR>
                      <a:noFill/>
                    </a:lnR>
                    <a:lnT w="9525" cap="flat" cmpd="sng" algn="ctr">
                      <a:solidFill>
                        <a:srgbClr val="FFFFFF"/>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rgbClr val="D8DEE8"/>
                    </a:solidFill>
                  </a:tcPr>
                </a:tc>
                <a:tc>
                  <a:txBody>
                    <a:bodyPr/>
                    <a:lstStyle/>
                    <a:p>
                      <a:pPr rtl="0" fontAlgn="b">
                        <a:buNone/>
                      </a:pPr>
                      <a:endParaRPr lang="en-US">
                        <a:effectLst/>
                      </a:endParaRPr>
                    </a:p>
                  </a:txBody>
                  <a:tcPr marL="28575" marR="28575" marT="0" marB="0" anchor="b">
                    <a:lnL>
                      <a:noFill/>
                    </a:lnL>
                    <a:lnR>
                      <a:noFill/>
                    </a:lnR>
                    <a:lnT w="9525" cap="flat" cmpd="sng" algn="ctr">
                      <a:solidFill>
                        <a:srgbClr val="FFFFFF"/>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rgbClr val="D8DEE8"/>
                    </a:solidFill>
                  </a:tcPr>
                </a:tc>
                <a:tc>
                  <a:txBody>
                    <a:bodyPr/>
                    <a:lstStyle/>
                    <a:p>
                      <a:pPr algn="r" rtl="0" fontAlgn="b">
                        <a:buNone/>
                      </a:pPr>
                      <a:r>
                        <a:rPr lang="en-US">
                          <a:effectLst/>
                        </a:rPr>
                        <a:t>9849.63</a:t>
                      </a:r>
                    </a:p>
                  </a:txBody>
                  <a:tcPr marL="28575" marR="28575" marT="0" marB="0" anchor="b">
                    <a:lnL>
                      <a:noFill/>
                    </a:lnL>
                    <a:lnR>
                      <a:noFill/>
                    </a:lnR>
                    <a:lnT w="9525" cap="flat" cmpd="sng" algn="ctr">
                      <a:solidFill>
                        <a:srgbClr val="FFFFFF"/>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rgbClr val="D8DEE8"/>
                    </a:solidFill>
                  </a:tcPr>
                </a:tc>
                <a:tc>
                  <a:txBody>
                    <a:bodyPr/>
                    <a:lstStyle/>
                    <a:p>
                      <a:pPr algn="r" rtl="0" fontAlgn="b">
                        <a:buNone/>
                      </a:pPr>
                      <a:r>
                        <a:rPr lang="en-US">
                          <a:effectLst/>
                        </a:rPr>
                        <a:t>3.575</a:t>
                      </a:r>
                    </a:p>
                  </a:txBody>
                  <a:tcPr marL="28575" marR="28575" marT="0" marB="0" anchor="b">
                    <a:lnL>
                      <a:noFill/>
                    </a:lnL>
                    <a:lnR>
                      <a:noFill/>
                    </a:lnR>
                    <a:lnT w="9525" cap="flat" cmpd="sng" algn="ctr">
                      <a:solidFill>
                        <a:srgbClr val="FFFFFF"/>
                      </a:solidFill>
                      <a:prstDash val="solid"/>
                      <a:round/>
                      <a:headEnd type="none" w="med" len="med"/>
                      <a:tailEnd type="none" w="med" len="med"/>
                    </a:lnT>
                    <a:lnB w="28575" cap="flat" cmpd="dbl" algn="ctr">
                      <a:solidFill>
                        <a:srgbClr val="000000"/>
                      </a:solidFill>
                      <a:prstDash val="solid"/>
                      <a:round/>
                      <a:headEnd type="none" w="med" len="med"/>
                      <a:tailEnd type="none" w="med" len="med"/>
                    </a:lnB>
                    <a:solidFill>
                      <a:srgbClr val="D8DEE8"/>
                    </a:solidFill>
                  </a:tcPr>
                </a:tc>
                <a:extLst>
                  <a:ext uri="{0D108BD9-81ED-4DB2-BD59-A6C34878D82A}">
                    <a16:rowId xmlns:a16="http://schemas.microsoft.com/office/drawing/2014/main" val="1354361054"/>
                  </a:ext>
                </a:extLst>
              </a:tr>
              <a:tr h="190500">
                <a:tc>
                  <a:txBody>
                    <a:bodyPr/>
                    <a:lstStyle/>
                    <a:p>
                      <a:pPr rtl="0" fontAlgn="b">
                        <a:buNone/>
                      </a:pPr>
                      <a:r>
                        <a:rPr lang="en-US" b="1">
                          <a:effectLst/>
                        </a:rPr>
                        <a:t>Grand Total</a:t>
                      </a:r>
                    </a:p>
                  </a:txBody>
                  <a:tcPr marL="28575" marR="28575" marT="0" marB="0" anchor="b">
                    <a:lnL>
                      <a:noFill/>
                    </a:lnL>
                    <a:lnR>
                      <a:noFill/>
                    </a:lnR>
                    <a:lnT w="28575" cap="flat" cmpd="dbl" algn="ctr">
                      <a:solidFill>
                        <a:srgbClr val="000000"/>
                      </a:solidFill>
                      <a:prstDash val="solid"/>
                      <a:round/>
                      <a:headEnd type="none" w="med" len="med"/>
                      <a:tailEnd type="none" w="med" len="med"/>
                    </a:lnT>
                    <a:lnB>
                      <a:noFill/>
                    </a:lnB>
                    <a:solidFill>
                      <a:srgbClr val="D8DEE8"/>
                    </a:solidFill>
                  </a:tcPr>
                </a:tc>
                <a:tc>
                  <a:txBody>
                    <a:bodyPr/>
                    <a:lstStyle/>
                    <a:p>
                      <a:pPr rtl="0" fontAlgn="b">
                        <a:buNone/>
                      </a:pPr>
                      <a:endParaRPr lang="en-US">
                        <a:effectLst/>
                      </a:endParaRPr>
                    </a:p>
                  </a:txBody>
                  <a:tcPr marL="28575" marR="28575" marT="0" marB="0" anchor="b">
                    <a:lnL>
                      <a:noFill/>
                    </a:lnL>
                    <a:lnR>
                      <a:noFill/>
                    </a:lnR>
                    <a:lnT w="28575" cap="flat" cmpd="dbl" algn="ctr">
                      <a:solidFill>
                        <a:srgbClr val="000000"/>
                      </a:solidFill>
                      <a:prstDash val="solid"/>
                      <a:round/>
                      <a:headEnd type="none" w="med" len="med"/>
                      <a:tailEnd type="none" w="med" len="med"/>
                    </a:lnT>
                    <a:lnB>
                      <a:noFill/>
                    </a:lnB>
                    <a:solidFill>
                      <a:srgbClr val="D8DEE8"/>
                    </a:solidFill>
                  </a:tcPr>
                </a:tc>
                <a:tc>
                  <a:txBody>
                    <a:bodyPr/>
                    <a:lstStyle/>
                    <a:p>
                      <a:pPr algn="r" rtl="0" fontAlgn="b">
                        <a:buNone/>
                      </a:pPr>
                      <a:r>
                        <a:rPr lang="en-US" b="1">
                          <a:effectLst/>
                        </a:rPr>
                        <a:t>3074.9636</a:t>
                      </a:r>
                    </a:p>
                  </a:txBody>
                  <a:tcPr marL="28575" marR="28575" marT="0" marB="0" anchor="b">
                    <a:lnL>
                      <a:noFill/>
                    </a:lnL>
                    <a:lnR>
                      <a:noFill/>
                    </a:lnR>
                    <a:lnT w="28575" cap="flat" cmpd="dbl" algn="ctr">
                      <a:solidFill>
                        <a:srgbClr val="000000"/>
                      </a:solidFill>
                      <a:prstDash val="solid"/>
                      <a:round/>
                      <a:headEnd type="none" w="med" len="med"/>
                      <a:tailEnd type="none" w="med" len="med"/>
                    </a:lnT>
                    <a:lnB>
                      <a:noFill/>
                    </a:lnB>
                    <a:solidFill>
                      <a:srgbClr val="D8DEE8"/>
                    </a:solidFill>
                  </a:tcPr>
                </a:tc>
                <a:tc>
                  <a:txBody>
                    <a:bodyPr/>
                    <a:lstStyle/>
                    <a:p>
                      <a:pPr algn="r" rtl="0" fontAlgn="b">
                        <a:buNone/>
                      </a:pPr>
                      <a:r>
                        <a:rPr lang="en-US" b="1">
                          <a:effectLst/>
                        </a:rPr>
                        <a:t>3.5072</a:t>
                      </a:r>
                    </a:p>
                  </a:txBody>
                  <a:tcPr marL="28575" marR="28575" marT="0" marB="0" anchor="b">
                    <a:lnL>
                      <a:noFill/>
                    </a:lnL>
                    <a:lnR>
                      <a:noFill/>
                    </a:lnR>
                    <a:lnT w="28575" cap="flat" cmpd="dbl" algn="ctr">
                      <a:solidFill>
                        <a:srgbClr val="000000"/>
                      </a:solidFill>
                      <a:prstDash val="solid"/>
                      <a:round/>
                      <a:headEnd type="none" w="med" len="med"/>
                      <a:tailEnd type="none" w="med" len="med"/>
                    </a:lnT>
                    <a:lnB>
                      <a:noFill/>
                    </a:lnB>
                    <a:solidFill>
                      <a:srgbClr val="D8DEE8"/>
                    </a:solidFill>
                  </a:tcPr>
                </a:tc>
                <a:extLst>
                  <a:ext uri="{0D108BD9-81ED-4DB2-BD59-A6C34878D82A}">
                    <a16:rowId xmlns:a16="http://schemas.microsoft.com/office/drawing/2014/main" val="1745712662"/>
                  </a:ext>
                </a:extLst>
              </a:tr>
            </a:tbl>
          </a:graphicData>
        </a:graphic>
      </p:graphicFrame>
    </p:spTree>
    <p:extLst>
      <p:ext uri="{BB962C8B-B14F-4D97-AF65-F5344CB8AC3E}">
        <p14:creationId xmlns:p14="http://schemas.microsoft.com/office/powerpoint/2010/main" val="1955643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F4027-0188-ED45-3D25-83FD2FB61EC3}"/>
              </a:ext>
            </a:extLst>
          </p:cNvPr>
          <p:cNvSpPr>
            <a:spLocks noGrp="1"/>
          </p:cNvSpPr>
          <p:nvPr>
            <p:ph type="title"/>
          </p:nvPr>
        </p:nvSpPr>
        <p:spPr>
          <a:xfrm>
            <a:off x="578898" y="985211"/>
            <a:ext cx="11049000" cy="1084101"/>
          </a:xfrm>
        </p:spPr>
        <p:txBody>
          <a:bodyPr>
            <a:normAutofit fontScale="90000"/>
          </a:bodyPr>
          <a:lstStyle/>
          <a:p>
            <a:r>
              <a:rPr lang="en-US" sz="4200" b="1" dirty="0">
                <a:latin typeface="Century Gothic"/>
                <a:ea typeface="Batang"/>
              </a:rPr>
              <a:t>Suggestions for Opening New Restaurants</a:t>
            </a:r>
            <a:endParaRPr lang="en-US" dirty="0">
              <a:ea typeface="Batang"/>
            </a:endParaRPr>
          </a:p>
          <a:p>
            <a:br>
              <a:rPr lang="en-US" dirty="0"/>
            </a:br>
            <a:endParaRPr lang="en-US" dirty="0"/>
          </a:p>
        </p:txBody>
      </p:sp>
      <p:sp>
        <p:nvSpPr>
          <p:cNvPr id="3" name="Picture Placeholder 2">
            <a:extLst>
              <a:ext uri="{FF2B5EF4-FFF2-40B4-BE49-F238E27FC236}">
                <a16:creationId xmlns:a16="http://schemas.microsoft.com/office/drawing/2014/main" id="{15977322-061E-122F-D7F3-78A7B0E211A5}"/>
              </a:ext>
            </a:extLst>
          </p:cNvPr>
          <p:cNvSpPr>
            <a:spLocks noGrp="1"/>
          </p:cNvSpPr>
          <p:nvPr>
            <p:ph idx="1"/>
          </p:nvPr>
        </p:nvSpPr>
        <p:spPr/>
        <p:txBody>
          <a:bodyPr vert="horz" lIns="91440" tIns="45720" rIns="91440" bIns="45720" rtlCol="0" anchor="t">
            <a:normAutofit/>
          </a:bodyPr>
          <a:lstStyle/>
          <a:p>
            <a:pPr marL="0" indent="0">
              <a:buNone/>
            </a:pPr>
            <a:r>
              <a:rPr lang="en-US" sz="1800" b="1" dirty="0">
                <a:latin typeface="Arial"/>
                <a:ea typeface="Arial"/>
                <a:cs typeface="Arial"/>
              </a:rPr>
              <a:t>Rating and Cost comparison of countries where new restaurants can be opened</a:t>
            </a:r>
          </a:p>
          <a:p>
            <a:pPr>
              <a:buFont typeface="Arial"/>
              <a:buChar char="•"/>
            </a:pPr>
            <a:r>
              <a:rPr lang="en-US" sz="1800" dirty="0">
                <a:latin typeface="Arial"/>
                <a:cs typeface="Arial"/>
              </a:rPr>
              <a:t>The reason for suggesting to open newer restaurants is that 95% of the restaurants are located </a:t>
            </a:r>
            <a:r>
              <a:rPr lang="en-US" sz="1800" dirty="0" err="1">
                <a:latin typeface="Arial"/>
                <a:cs typeface="Arial"/>
              </a:rPr>
              <a:t>acrossthese</a:t>
            </a:r>
            <a:r>
              <a:rPr lang="en-US" sz="1800" dirty="0">
                <a:latin typeface="Arial"/>
                <a:cs typeface="Arial"/>
              </a:rPr>
              <a:t> 6 countries with prices ranging from </a:t>
            </a:r>
            <a:r>
              <a:rPr lang="en-US" sz="1800" b="1" dirty="0">
                <a:latin typeface="Arial"/>
                <a:cs typeface="Arial"/>
              </a:rPr>
              <a:t>623 INR </a:t>
            </a:r>
            <a:r>
              <a:rPr lang="en-US" sz="1800" dirty="0">
                <a:latin typeface="Arial"/>
                <a:cs typeface="Arial"/>
              </a:rPr>
              <a:t>(</a:t>
            </a:r>
            <a:r>
              <a:rPr lang="en-US" sz="1800" b="1" dirty="0">
                <a:latin typeface="Arial"/>
                <a:cs typeface="Arial"/>
              </a:rPr>
              <a:t>India</a:t>
            </a:r>
            <a:r>
              <a:rPr lang="en-US" sz="1800" dirty="0">
                <a:latin typeface="Arial"/>
                <a:cs typeface="Arial"/>
              </a:rPr>
              <a:t>) to </a:t>
            </a:r>
            <a:r>
              <a:rPr lang="en-US" sz="1800" b="1" dirty="0">
                <a:latin typeface="Arial"/>
                <a:cs typeface="Arial"/>
              </a:rPr>
              <a:t>9849 INR </a:t>
            </a:r>
            <a:r>
              <a:rPr lang="en-US" sz="1800" dirty="0">
                <a:latin typeface="Arial"/>
                <a:cs typeface="Arial"/>
              </a:rPr>
              <a:t>(</a:t>
            </a:r>
            <a:r>
              <a:rPr lang="en-US" sz="1800" b="1" dirty="0">
                <a:latin typeface="Arial"/>
                <a:cs typeface="Arial"/>
              </a:rPr>
              <a:t>Singapore</a:t>
            </a:r>
            <a:r>
              <a:rPr lang="en-US" sz="1800" dirty="0">
                <a:latin typeface="Arial"/>
                <a:cs typeface="Arial"/>
              </a:rPr>
              <a:t>)</a:t>
            </a:r>
          </a:p>
          <a:p>
            <a:pPr>
              <a:buFont typeface="Arial"/>
              <a:buChar char="•"/>
            </a:pPr>
            <a:r>
              <a:rPr lang="en-US" sz="1800" dirty="0">
                <a:latin typeface="Arial"/>
                <a:cs typeface="Arial"/>
              </a:rPr>
              <a:t>In the upcoming slides, let us have a look at how the factors like rating, average cost per two, votes </a:t>
            </a:r>
            <a:r>
              <a:rPr lang="en-US" sz="1800" dirty="0" err="1">
                <a:latin typeface="Arial"/>
                <a:cs typeface="Arial"/>
              </a:rPr>
              <a:t>andcuisines</a:t>
            </a:r>
            <a:r>
              <a:rPr lang="en-US" sz="1800" dirty="0">
                <a:latin typeface="Arial"/>
                <a:cs typeface="Arial"/>
              </a:rPr>
              <a:t> play a major role in opening new restaurants across these countries.</a:t>
            </a:r>
            <a:endParaRPr lang="en-US" dirty="0"/>
          </a:p>
          <a:p>
            <a:pPr marL="0" indent="0">
              <a:buNone/>
            </a:pPr>
            <a:endParaRPr lang="en-US" sz="1800" b="1" dirty="0">
              <a:latin typeface="Arial"/>
              <a:cs typeface="Arial"/>
            </a:endParaRPr>
          </a:p>
        </p:txBody>
      </p:sp>
      <p:pic>
        <p:nvPicPr>
          <p:cNvPr id="5" name="Picture 4" descr="A screenshot of a data">
            <a:extLst>
              <a:ext uri="{FF2B5EF4-FFF2-40B4-BE49-F238E27FC236}">
                <a16:creationId xmlns:a16="http://schemas.microsoft.com/office/drawing/2014/main" id="{1319D8C4-7167-1AD1-05B5-C412A6C6608D}"/>
              </a:ext>
            </a:extLst>
          </p:cNvPr>
          <p:cNvPicPr>
            <a:picLocks noChangeAspect="1"/>
          </p:cNvPicPr>
          <p:nvPr/>
        </p:nvPicPr>
        <p:blipFill>
          <a:blip r:embed="rId2"/>
          <a:stretch>
            <a:fillRect/>
          </a:stretch>
        </p:blipFill>
        <p:spPr>
          <a:xfrm>
            <a:off x="580701" y="4152068"/>
            <a:ext cx="11060566" cy="1670561"/>
          </a:xfrm>
          <a:prstGeom prst="rect">
            <a:avLst/>
          </a:prstGeom>
        </p:spPr>
      </p:pic>
    </p:spTree>
    <p:extLst>
      <p:ext uri="{BB962C8B-B14F-4D97-AF65-F5344CB8AC3E}">
        <p14:creationId xmlns:p14="http://schemas.microsoft.com/office/powerpoint/2010/main" val="212749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A865-B80F-AC35-5866-BC461DD4D4F7}"/>
              </a:ext>
            </a:extLst>
          </p:cNvPr>
          <p:cNvSpPr>
            <a:spLocks noGrp="1"/>
          </p:cNvSpPr>
          <p:nvPr>
            <p:ph type="title"/>
          </p:nvPr>
        </p:nvSpPr>
        <p:spPr>
          <a:xfrm>
            <a:off x="571500" y="996282"/>
            <a:ext cx="11049000" cy="1084101"/>
          </a:xfrm>
        </p:spPr>
        <p:txBody>
          <a:bodyPr>
            <a:normAutofit fontScale="90000"/>
          </a:bodyPr>
          <a:lstStyle/>
          <a:p>
            <a:r>
              <a:rPr lang="en-US" sz="4200" b="1" dirty="0">
                <a:latin typeface="Century Gothic"/>
              </a:rPr>
              <a:t>Competitor Analysis based on Average Cost</a:t>
            </a:r>
            <a:endParaRPr lang="en-US" dirty="0"/>
          </a:p>
          <a:p>
            <a:br>
              <a:rPr lang="en-US" dirty="0"/>
            </a:br>
            <a:endParaRPr lang="en-US" dirty="0"/>
          </a:p>
        </p:txBody>
      </p:sp>
      <p:sp>
        <p:nvSpPr>
          <p:cNvPr id="3" name="Content Placeholder 2">
            <a:extLst>
              <a:ext uri="{FF2B5EF4-FFF2-40B4-BE49-F238E27FC236}">
                <a16:creationId xmlns:a16="http://schemas.microsoft.com/office/drawing/2014/main" id="{991FC6E6-A118-6EB8-F74B-1B133B60A2EA}"/>
              </a:ext>
            </a:extLst>
          </p:cNvPr>
          <p:cNvSpPr>
            <a:spLocks noGrp="1"/>
          </p:cNvSpPr>
          <p:nvPr>
            <p:ph idx="1"/>
          </p:nvPr>
        </p:nvSpPr>
        <p:spPr/>
        <p:txBody>
          <a:bodyPr vert="horz" lIns="91440" tIns="45720" rIns="91440" bIns="45720" rtlCol="0" anchor="t">
            <a:normAutofit/>
          </a:bodyPr>
          <a:lstStyle/>
          <a:p>
            <a:r>
              <a:rPr lang="en-US" sz="1400" dirty="0">
                <a:latin typeface="Arial"/>
                <a:cs typeface="Arial"/>
              </a:rPr>
              <a:t>The left chart shows the average cost from the suggested restaurant while the chart on the right side depicts the average cost of the restaurants in the suggested city. </a:t>
            </a:r>
            <a:r>
              <a:rPr lang="en-US" sz="1400" b="1" dirty="0">
                <a:latin typeface="Arial"/>
                <a:cs typeface="Arial"/>
              </a:rPr>
              <a:t>(Currency Unit – INR)</a:t>
            </a:r>
            <a:endParaRPr lang="en-US" dirty="0"/>
          </a:p>
          <a:p>
            <a:r>
              <a:rPr lang="en-US" sz="1400" dirty="0">
                <a:latin typeface="Arial"/>
                <a:cs typeface="Arial"/>
              </a:rPr>
              <a:t>For example, in </a:t>
            </a:r>
            <a:r>
              <a:rPr lang="en-US" sz="1400" dirty="0" err="1">
                <a:latin typeface="Arial"/>
                <a:cs typeface="Arial"/>
              </a:rPr>
              <a:t>Brasi_lia</a:t>
            </a:r>
            <a:r>
              <a:rPr lang="en-US" sz="1400" dirty="0">
                <a:latin typeface="Arial"/>
                <a:cs typeface="Arial"/>
              </a:rPr>
              <a:t> in Brazil,</a:t>
            </a:r>
            <a:endParaRPr lang="en-US" dirty="0"/>
          </a:p>
          <a:p>
            <a:pPr lvl="1">
              <a:buFont typeface="Avenir Next LT Pro Light" panose="020B0604020202020204" pitchFamily="34" charset="0"/>
              <a:buChar char="–"/>
            </a:pPr>
            <a:r>
              <a:rPr lang="en-US" sz="1200" dirty="0">
                <a:latin typeface="Arial"/>
                <a:cs typeface="Arial"/>
              </a:rPr>
              <a:t>Average cost of </a:t>
            </a:r>
            <a:r>
              <a:rPr lang="en-US" sz="1200" b="1" dirty="0">
                <a:latin typeface="Arial"/>
                <a:cs typeface="Arial"/>
              </a:rPr>
              <a:t>all </a:t>
            </a:r>
            <a:r>
              <a:rPr lang="en-US" sz="1200" dirty="0">
                <a:latin typeface="Arial"/>
                <a:cs typeface="Arial"/>
              </a:rPr>
              <a:t>restaurants – </a:t>
            </a:r>
            <a:r>
              <a:rPr lang="en-US" sz="1200" b="1" dirty="0">
                <a:latin typeface="Arial"/>
                <a:cs typeface="Arial"/>
              </a:rPr>
              <a:t>1791.60 INR</a:t>
            </a:r>
            <a:endParaRPr lang="en-US" dirty="0"/>
          </a:p>
          <a:p>
            <a:pPr lvl="1">
              <a:buFont typeface="Avenir Next LT Pro Light" panose="020B0604020202020204" pitchFamily="34" charset="0"/>
              <a:buChar char="–"/>
            </a:pPr>
            <a:r>
              <a:rPr lang="en-US" sz="1200" dirty="0">
                <a:latin typeface="Arial"/>
                <a:cs typeface="Arial"/>
              </a:rPr>
              <a:t>Average cost in </a:t>
            </a:r>
            <a:r>
              <a:rPr lang="en-US" sz="1200" b="1" dirty="0">
                <a:latin typeface="Arial"/>
                <a:cs typeface="Arial"/>
              </a:rPr>
              <a:t>suggested restaurant </a:t>
            </a:r>
            <a:r>
              <a:rPr lang="en-US" sz="1200" dirty="0">
                <a:latin typeface="Arial"/>
                <a:cs typeface="Arial"/>
              </a:rPr>
              <a:t>– </a:t>
            </a:r>
            <a:r>
              <a:rPr lang="en-US" sz="1200" b="1" dirty="0">
                <a:latin typeface="Arial"/>
                <a:cs typeface="Arial"/>
              </a:rPr>
              <a:t>447.90 INR</a:t>
            </a:r>
            <a:endParaRPr lang="en-US" dirty="0"/>
          </a:p>
          <a:p>
            <a:r>
              <a:rPr lang="en-US" sz="1400" dirty="0">
                <a:latin typeface="Arial"/>
                <a:cs typeface="Arial"/>
              </a:rPr>
              <a:t>This means that we can open a restaurant in the suggested city as long as the average cost of the suggested restaurant is less than the average cost of all the restaurants in the suggested city.</a:t>
            </a:r>
            <a:endParaRPr lang="en-US" dirty="0"/>
          </a:p>
          <a:p>
            <a:endParaRPr lang="en-US" dirty="0"/>
          </a:p>
        </p:txBody>
      </p:sp>
    </p:spTree>
    <p:extLst>
      <p:ext uri="{BB962C8B-B14F-4D97-AF65-F5344CB8AC3E}">
        <p14:creationId xmlns:p14="http://schemas.microsoft.com/office/powerpoint/2010/main" val="1047355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D32C4-F3B6-C190-38C1-988A2D1D5C49}"/>
              </a:ext>
            </a:extLst>
          </p:cNvPr>
          <p:cNvSpPr>
            <a:spLocks noGrp="1"/>
          </p:cNvSpPr>
          <p:nvPr>
            <p:ph type="title"/>
          </p:nvPr>
        </p:nvSpPr>
        <p:spPr/>
        <p:txBody>
          <a:bodyPr/>
          <a:lstStyle/>
          <a:p>
            <a:r>
              <a:rPr lang="en-US" b="1" dirty="0">
                <a:latin typeface="Batang"/>
                <a:ea typeface="Batang"/>
              </a:rPr>
              <a:t>Comparision of average cost</a:t>
            </a:r>
            <a:endParaRPr lang="en-US" b="1" dirty="0"/>
          </a:p>
        </p:txBody>
      </p:sp>
      <p:pic>
        <p:nvPicPr>
          <p:cNvPr id="4" name="Content Placeholder 3" descr="A graph of the most populated cities&#10;&#10;AI-generated content may be incorrect.">
            <a:extLst>
              <a:ext uri="{FF2B5EF4-FFF2-40B4-BE49-F238E27FC236}">
                <a16:creationId xmlns:a16="http://schemas.microsoft.com/office/drawing/2014/main" id="{68424968-7183-E661-6A4B-AE73E2B7EBA4}"/>
              </a:ext>
            </a:extLst>
          </p:cNvPr>
          <p:cNvPicPr>
            <a:picLocks noGrp="1" noChangeAspect="1"/>
          </p:cNvPicPr>
          <p:nvPr>
            <p:ph idx="1"/>
          </p:nvPr>
        </p:nvPicPr>
        <p:blipFill>
          <a:blip r:embed="rId2"/>
          <a:stretch>
            <a:fillRect/>
          </a:stretch>
        </p:blipFill>
        <p:spPr>
          <a:xfrm>
            <a:off x="617197" y="2121213"/>
            <a:ext cx="5486400" cy="3381375"/>
          </a:xfrm>
          <a:prstGeom prst="rect">
            <a:avLst/>
          </a:prstGeom>
        </p:spPr>
      </p:pic>
      <p:pic>
        <p:nvPicPr>
          <p:cNvPr id="6" name="Picture 5" descr="A graph of a number of countries/regions&#10;&#10;AI-generated content may be incorrect.">
            <a:extLst>
              <a:ext uri="{FF2B5EF4-FFF2-40B4-BE49-F238E27FC236}">
                <a16:creationId xmlns:a16="http://schemas.microsoft.com/office/drawing/2014/main" id="{4EB09354-1C7A-A3B7-E2FE-9BEE17ACAC36}"/>
              </a:ext>
            </a:extLst>
          </p:cNvPr>
          <p:cNvPicPr>
            <a:picLocks noChangeAspect="1"/>
          </p:cNvPicPr>
          <p:nvPr/>
        </p:nvPicPr>
        <p:blipFill>
          <a:blip r:embed="rId3"/>
          <a:stretch>
            <a:fillRect/>
          </a:stretch>
        </p:blipFill>
        <p:spPr>
          <a:xfrm>
            <a:off x="6452058" y="2091612"/>
            <a:ext cx="5484964" cy="3413450"/>
          </a:xfrm>
          <a:prstGeom prst="rect">
            <a:avLst/>
          </a:prstGeom>
        </p:spPr>
      </p:pic>
    </p:spTree>
    <p:extLst>
      <p:ext uri="{BB962C8B-B14F-4D97-AF65-F5344CB8AC3E}">
        <p14:creationId xmlns:p14="http://schemas.microsoft.com/office/powerpoint/2010/main" val="2439683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DB73A-5748-F1C9-12B1-332510771A66}"/>
              </a:ext>
            </a:extLst>
          </p:cNvPr>
          <p:cNvSpPr>
            <a:spLocks noGrp="1"/>
          </p:cNvSpPr>
          <p:nvPr>
            <p:ph type="title"/>
          </p:nvPr>
        </p:nvSpPr>
        <p:spPr>
          <a:xfrm>
            <a:off x="571500" y="985211"/>
            <a:ext cx="11049000" cy="1084101"/>
          </a:xfrm>
        </p:spPr>
        <p:txBody>
          <a:bodyPr>
            <a:normAutofit fontScale="90000"/>
          </a:bodyPr>
          <a:lstStyle/>
          <a:p>
            <a:r>
              <a:rPr lang="en-US" sz="4200" b="1" dirty="0">
                <a:latin typeface="Century Gothic"/>
              </a:rPr>
              <a:t>Competitor Analysis based on Average Rating</a:t>
            </a:r>
            <a:endParaRPr lang="en-US" dirty="0"/>
          </a:p>
          <a:p>
            <a:br>
              <a:rPr lang="en-US" dirty="0"/>
            </a:br>
            <a:endParaRPr lang="en-US" dirty="0"/>
          </a:p>
        </p:txBody>
      </p:sp>
      <p:sp>
        <p:nvSpPr>
          <p:cNvPr id="3" name="Content Placeholder 2">
            <a:extLst>
              <a:ext uri="{FF2B5EF4-FFF2-40B4-BE49-F238E27FC236}">
                <a16:creationId xmlns:a16="http://schemas.microsoft.com/office/drawing/2014/main" id="{0C49B3B5-EDA1-DE06-54B3-9ABB189BFDDC}"/>
              </a:ext>
            </a:extLst>
          </p:cNvPr>
          <p:cNvSpPr>
            <a:spLocks noGrp="1"/>
          </p:cNvSpPr>
          <p:nvPr>
            <p:ph idx="1"/>
          </p:nvPr>
        </p:nvSpPr>
        <p:spPr/>
        <p:txBody>
          <a:bodyPr vert="horz" lIns="91440" tIns="45720" rIns="91440" bIns="45720" rtlCol="0" anchor="t">
            <a:normAutofit/>
          </a:bodyPr>
          <a:lstStyle/>
          <a:p>
            <a:pPr marL="0" indent="0">
              <a:buNone/>
            </a:pPr>
            <a:r>
              <a:rPr lang="en-US" sz="1800" b="1" dirty="0">
                <a:latin typeface="Arial"/>
                <a:cs typeface="Arial"/>
              </a:rPr>
              <a:t>Competitors of restaurants to be opened in the suggested cities – Rating Comparison </a:t>
            </a:r>
            <a:endParaRPr lang="en-US" dirty="0"/>
          </a:p>
          <a:p>
            <a:r>
              <a:rPr lang="en-US" sz="1500" dirty="0">
                <a:latin typeface="Arial"/>
                <a:cs typeface="Arial"/>
              </a:rPr>
              <a:t>The left chart shows the average customer ratings from the suggested restaurant while the chart on the right side depicts the average customer ratings of the restaurants in the suggested city. </a:t>
            </a:r>
            <a:endParaRPr lang="en-US" dirty="0"/>
          </a:p>
          <a:p>
            <a:r>
              <a:rPr lang="en-US" sz="1500" dirty="0">
                <a:latin typeface="Arial"/>
                <a:cs typeface="Arial"/>
              </a:rPr>
              <a:t>The suggested restaurants have a lower rating when compared to the average rating across the restaurants in the suggested city.</a:t>
            </a:r>
            <a:endParaRPr lang="en-US"/>
          </a:p>
          <a:p>
            <a:r>
              <a:rPr lang="en-US" sz="1500" dirty="0">
                <a:latin typeface="Arial"/>
                <a:cs typeface="Arial"/>
              </a:rPr>
              <a:t>While opening a new restaurant in the suggested cities, these restaurants have a possibility of being a competitor in terms of pricing, locality, table bookings, online delivery, customer votes etc.</a:t>
            </a:r>
            <a:endParaRPr lang="en-US"/>
          </a:p>
          <a:p>
            <a:pPr marL="0" indent="0">
              <a:buNone/>
            </a:pPr>
            <a:br>
              <a:rPr lang="en-US" dirty="0"/>
            </a:br>
            <a:endParaRPr lang="en-US" dirty="0"/>
          </a:p>
        </p:txBody>
      </p:sp>
    </p:spTree>
    <p:extLst>
      <p:ext uri="{BB962C8B-B14F-4D97-AF65-F5344CB8AC3E}">
        <p14:creationId xmlns:p14="http://schemas.microsoft.com/office/powerpoint/2010/main" val="1265295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EB27B-9084-63DC-93F1-48D2B335AB6D}"/>
              </a:ext>
            </a:extLst>
          </p:cNvPr>
          <p:cNvSpPr>
            <a:spLocks noGrp="1"/>
          </p:cNvSpPr>
          <p:nvPr>
            <p:ph type="title"/>
          </p:nvPr>
        </p:nvSpPr>
        <p:spPr>
          <a:xfrm>
            <a:off x="571500" y="985211"/>
            <a:ext cx="11049000" cy="1084101"/>
          </a:xfrm>
        </p:spPr>
        <p:txBody>
          <a:bodyPr>
            <a:normAutofit fontScale="90000"/>
          </a:bodyPr>
          <a:lstStyle/>
          <a:p>
            <a:r>
              <a:rPr lang="en-US" sz="4200" b="1" dirty="0">
                <a:latin typeface="Century Gothic"/>
              </a:rPr>
              <a:t>Competitor Analysis based on Average Rating</a:t>
            </a:r>
            <a:endParaRPr lang="en-US" dirty="0"/>
          </a:p>
          <a:p>
            <a:br>
              <a:rPr lang="en-US" dirty="0"/>
            </a:br>
            <a:endParaRPr lang="en-US" dirty="0"/>
          </a:p>
        </p:txBody>
      </p:sp>
      <p:pic>
        <p:nvPicPr>
          <p:cNvPr id="4" name="Content Placeholder 3" descr="A graph of blue rectangular bars with white text&#10;&#10;AI-generated content may be incorrect.">
            <a:extLst>
              <a:ext uri="{FF2B5EF4-FFF2-40B4-BE49-F238E27FC236}">
                <a16:creationId xmlns:a16="http://schemas.microsoft.com/office/drawing/2014/main" id="{83AE49EB-B9AA-E381-6D50-35C68B6DD7ED}"/>
              </a:ext>
            </a:extLst>
          </p:cNvPr>
          <p:cNvPicPr>
            <a:picLocks noGrp="1" noChangeAspect="1"/>
          </p:cNvPicPr>
          <p:nvPr>
            <p:ph idx="1"/>
          </p:nvPr>
        </p:nvPicPr>
        <p:blipFill>
          <a:blip r:embed="rId2"/>
          <a:stretch>
            <a:fillRect/>
          </a:stretch>
        </p:blipFill>
        <p:spPr>
          <a:xfrm>
            <a:off x="575126" y="2067912"/>
            <a:ext cx="5671904" cy="3506661"/>
          </a:xfrm>
          <a:prstGeom prst="rect">
            <a:avLst/>
          </a:prstGeom>
        </p:spPr>
      </p:pic>
      <p:pic>
        <p:nvPicPr>
          <p:cNvPr id="5" name="Picture 4" descr="A graph of blue bars with white text&#10;&#10;AI-generated content may be incorrect.">
            <a:extLst>
              <a:ext uri="{FF2B5EF4-FFF2-40B4-BE49-F238E27FC236}">
                <a16:creationId xmlns:a16="http://schemas.microsoft.com/office/drawing/2014/main" id="{7ECEAF54-4776-5E33-22BA-5EF4980634B0}"/>
              </a:ext>
            </a:extLst>
          </p:cNvPr>
          <p:cNvPicPr>
            <a:picLocks noChangeAspect="1"/>
          </p:cNvPicPr>
          <p:nvPr/>
        </p:nvPicPr>
        <p:blipFill>
          <a:blip r:embed="rId3"/>
          <a:stretch>
            <a:fillRect/>
          </a:stretch>
        </p:blipFill>
        <p:spPr>
          <a:xfrm>
            <a:off x="6428732" y="2068286"/>
            <a:ext cx="5492739" cy="3397899"/>
          </a:xfrm>
          <a:prstGeom prst="rect">
            <a:avLst/>
          </a:prstGeom>
        </p:spPr>
      </p:pic>
    </p:spTree>
    <p:extLst>
      <p:ext uri="{BB962C8B-B14F-4D97-AF65-F5344CB8AC3E}">
        <p14:creationId xmlns:p14="http://schemas.microsoft.com/office/powerpoint/2010/main" val="3299667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BBFF9-2AB5-33E9-7E64-031B0F235800}"/>
              </a:ext>
            </a:extLst>
          </p:cNvPr>
          <p:cNvSpPr>
            <a:spLocks noGrp="1"/>
          </p:cNvSpPr>
          <p:nvPr>
            <p:ph type="title"/>
          </p:nvPr>
        </p:nvSpPr>
        <p:spPr>
          <a:xfrm>
            <a:off x="571499" y="825530"/>
            <a:ext cx="3494338" cy="2589940"/>
          </a:xfrm>
        </p:spPr>
        <p:txBody>
          <a:bodyPr>
            <a:normAutofit/>
          </a:bodyPr>
          <a:lstStyle/>
          <a:p>
            <a:r>
              <a:rPr lang="en-US" sz="2800" b="1" dirty="0">
                <a:latin typeface="Century Gothic"/>
                <a:ea typeface="Batang"/>
              </a:rPr>
              <a:t>Suggestions – Price Range for the upcoming</a:t>
            </a:r>
            <a:r>
              <a:rPr lang="en-US" sz="1400" b="1" dirty="0">
                <a:latin typeface="Century Gothic"/>
                <a:ea typeface="Batang"/>
              </a:rPr>
              <a:t> </a:t>
            </a:r>
            <a:r>
              <a:rPr lang="en-US" sz="2800" b="1" dirty="0">
                <a:latin typeface="Century Gothic"/>
                <a:ea typeface="Batang"/>
              </a:rPr>
              <a:t>Restaurants</a:t>
            </a:r>
            <a:endParaRPr lang="en-US" sz="2800" dirty="0">
              <a:ea typeface="Batang"/>
            </a:endParaRPr>
          </a:p>
        </p:txBody>
      </p:sp>
      <p:sp>
        <p:nvSpPr>
          <p:cNvPr id="3" name="Content Placeholder 2">
            <a:extLst>
              <a:ext uri="{FF2B5EF4-FFF2-40B4-BE49-F238E27FC236}">
                <a16:creationId xmlns:a16="http://schemas.microsoft.com/office/drawing/2014/main" id="{99874538-565A-498E-2405-22CD7C0694FC}"/>
              </a:ext>
            </a:extLst>
          </p:cNvPr>
          <p:cNvSpPr>
            <a:spLocks noGrp="1"/>
          </p:cNvSpPr>
          <p:nvPr>
            <p:ph type="body" sz="half" idx="2"/>
          </p:nvPr>
        </p:nvSpPr>
        <p:spPr>
          <a:xfrm>
            <a:off x="571498" y="2574906"/>
            <a:ext cx="3494338" cy="6437056"/>
          </a:xfrm>
        </p:spPr>
        <p:txBody>
          <a:bodyPr vert="horz" lIns="91440" tIns="45720" rIns="91440" bIns="45720" rtlCol="0" anchor="t">
            <a:normAutofit/>
          </a:bodyPr>
          <a:lstStyle/>
          <a:p>
            <a:r>
              <a:rPr lang="en-US" sz="1200" dirty="0">
                <a:latin typeface="Arial"/>
                <a:cs typeface="Arial"/>
              </a:rPr>
              <a:t>The distribution of restaurants with price range from 1 to 4 is as follows:</a:t>
            </a:r>
            <a:endParaRPr lang="en-US" sz="1200"/>
          </a:p>
          <a:p>
            <a:pPr lvl="1">
              <a:buFont typeface="Avenir Next LT Pro Light" panose="020B0604020202020204" pitchFamily="34" charset="0"/>
              <a:buChar char="–"/>
            </a:pPr>
            <a:r>
              <a:rPr lang="en-US" sz="1200" dirty="0">
                <a:latin typeface="Arial"/>
                <a:cs typeface="Arial"/>
              </a:rPr>
              <a:t>Price Range 1 – 4444 (46.53%)</a:t>
            </a:r>
            <a:endParaRPr lang="en-US" sz="1200"/>
          </a:p>
          <a:p>
            <a:pPr lvl="1">
              <a:buFont typeface="Avenir Next LT Pro Light" panose="020B0604020202020204" pitchFamily="34" charset="0"/>
              <a:buChar char="–"/>
            </a:pPr>
            <a:r>
              <a:rPr lang="en-US" sz="1200" dirty="0">
                <a:latin typeface="Arial"/>
                <a:cs typeface="Arial"/>
              </a:rPr>
              <a:t>Price Range 2 – 3113 (32.60%)</a:t>
            </a:r>
            <a:endParaRPr lang="en-US" sz="1200"/>
          </a:p>
          <a:p>
            <a:pPr lvl="1">
              <a:buFont typeface="Avenir Next LT Pro Light" panose="020B0604020202020204" pitchFamily="34" charset="0"/>
              <a:buChar char="–"/>
            </a:pPr>
            <a:r>
              <a:rPr lang="en-US" sz="1200" dirty="0">
                <a:latin typeface="Arial"/>
                <a:cs typeface="Arial"/>
              </a:rPr>
              <a:t>Price Range 3 – 1408 (14.74%)</a:t>
            </a:r>
            <a:endParaRPr lang="en-US" sz="1200"/>
          </a:p>
          <a:p>
            <a:pPr lvl="1">
              <a:buFont typeface="Avenir Next LT Pro Light" panose="020B0604020202020204" pitchFamily="34" charset="0"/>
              <a:buChar char="–"/>
            </a:pPr>
            <a:r>
              <a:rPr lang="en-US" sz="1200" dirty="0">
                <a:latin typeface="Arial"/>
                <a:cs typeface="Arial"/>
              </a:rPr>
              <a:t>Price Range 4 –   586 (  6.13%)</a:t>
            </a:r>
            <a:endParaRPr lang="en-US" sz="1200"/>
          </a:p>
          <a:p>
            <a:r>
              <a:rPr lang="en-US" sz="1200" dirty="0">
                <a:latin typeface="Arial"/>
                <a:cs typeface="Arial"/>
              </a:rPr>
              <a:t>We can observe that most of the restaurants fall in the</a:t>
            </a:r>
            <a:endParaRPr lang="en-US" sz="1200">
              <a:latin typeface="Avenir Next LT Pro Light"/>
              <a:cs typeface="Arial"/>
            </a:endParaRPr>
          </a:p>
          <a:p>
            <a:r>
              <a:rPr lang="en-US" sz="1200" dirty="0">
                <a:latin typeface="Arial"/>
                <a:cs typeface="Arial"/>
              </a:rPr>
              <a:t> price range 1 which means that there are high </a:t>
            </a:r>
            <a:endParaRPr lang="en-US" sz="1200">
              <a:latin typeface="Avenir Next LT Pro Light"/>
              <a:cs typeface="Arial"/>
            </a:endParaRPr>
          </a:p>
          <a:p>
            <a:r>
              <a:rPr lang="en-US" sz="1200" dirty="0">
                <a:latin typeface="Arial"/>
                <a:cs typeface="Arial"/>
              </a:rPr>
              <a:t>chances of a restaurant being opened in the future un</a:t>
            </a:r>
            <a:endParaRPr lang="en-US" sz="1200">
              <a:latin typeface="Avenir Next LT Pro Light"/>
              <a:cs typeface="Arial"/>
            </a:endParaRPr>
          </a:p>
          <a:p>
            <a:r>
              <a:rPr lang="en-US" sz="1200" dirty="0">
                <a:latin typeface="Arial"/>
                <a:cs typeface="Arial"/>
              </a:rPr>
              <a:t>der the price range 1.</a:t>
            </a:r>
            <a:endParaRPr lang="en-US" sz="1200"/>
          </a:p>
          <a:p>
            <a:endParaRPr lang="en-US" dirty="0"/>
          </a:p>
        </p:txBody>
      </p:sp>
      <p:pic>
        <p:nvPicPr>
          <p:cNvPr id="4" name="Picture 3" descr="A bar graph with numbers and a number&#10;&#10;AI-generated content may be incorrect.">
            <a:extLst>
              <a:ext uri="{FF2B5EF4-FFF2-40B4-BE49-F238E27FC236}">
                <a16:creationId xmlns:a16="http://schemas.microsoft.com/office/drawing/2014/main" id="{8776FF73-A7A6-D2C0-2EEB-38CC71F0A722}"/>
              </a:ext>
            </a:extLst>
          </p:cNvPr>
          <p:cNvPicPr>
            <a:picLocks noChangeAspect="1"/>
          </p:cNvPicPr>
          <p:nvPr/>
        </p:nvPicPr>
        <p:blipFill>
          <a:blip r:embed="rId2"/>
          <a:stretch>
            <a:fillRect/>
          </a:stretch>
        </p:blipFill>
        <p:spPr>
          <a:xfrm>
            <a:off x="4922457" y="1323528"/>
            <a:ext cx="6309048" cy="4184973"/>
          </a:xfrm>
          <a:prstGeom prst="rect">
            <a:avLst/>
          </a:prstGeom>
        </p:spPr>
      </p:pic>
    </p:spTree>
    <p:extLst>
      <p:ext uri="{BB962C8B-B14F-4D97-AF65-F5344CB8AC3E}">
        <p14:creationId xmlns:p14="http://schemas.microsoft.com/office/powerpoint/2010/main" val="1707022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7E45B-BD52-AC14-5763-7F5E88D62EFD}"/>
              </a:ext>
            </a:extLst>
          </p:cNvPr>
          <p:cNvSpPr>
            <a:spLocks noGrp="1"/>
          </p:cNvSpPr>
          <p:nvPr>
            <p:ph type="title"/>
          </p:nvPr>
        </p:nvSpPr>
        <p:spPr/>
        <p:txBody>
          <a:bodyPr/>
          <a:lstStyle/>
          <a:p>
            <a:r>
              <a:rPr lang="en-US" sz="4000" b="1" dirty="0">
                <a:latin typeface="Century Gothic"/>
                <a:ea typeface="Batang"/>
              </a:rPr>
              <a:t>STRATEGIC RECOMMENDATIONS</a:t>
            </a:r>
            <a:endParaRPr lang="en-US" dirty="0">
              <a:ea typeface="Batang"/>
            </a:endParaRPr>
          </a:p>
        </p:txBody>
      </p:sp>
    </p:spTree>
    <p:extLst>
      <p:ext uri="{BB962C8B-B14F-4D97-AF65-F5344CB8AC3E}">
        <p14:creationId xmlns:p14="http://schemas.microsoft.com/office/powerpoint/2010/main" val="24925954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2FF33-B819-5B6C-8163-534C525BA404}"/>
              </a:ext>
            </a:extLst>
          </p:cNvPr>
          <p:cNvSpPr>
            <a:spLocks noGrp="1"/>
          </p:cNvSpPr>
          <p:nvPr>
            <p:ph type="title"/>
          </p:nvPr>
        </p:nvSpPr>
        <p:spPr/>
        <p:txBody>
          <a:bodyPr/>
          <a:lstStyle/>
          <a:p>
            <a:r>
              <a:rPr lang="en-US" sz="4200" b="1" dirty="0">
                <a:latin typeface="Century Gothic"/>
              </a:rPr>
              <a:t>Recommendations based on factors</a:t>
            </a:r>
            <a:endParaRPr lang="en-US" dirty="0"/>
          </a:p>
        </p:txBody>
      </p:sp>
      <p:sp>
        <p:nvSpPr>
          <p:cNvPr id="3" name="Text Placeholder 2">
            <a:extLst>
              <a:ext uri="{FF2B5EF4-FFF2-40B4-BE49-F238E27FC236}">
                <a16:creationId xmlns:a16="http://schemas.microsoft.com/office/drawing/2014/main" id="{03E8AD8D-9215-EB5F-93E5-B00B894E57AE}"/>
              </a:ext>
            </a:extLst>
          </p:cNvPr>
          <p:cNvSpPr>
            <a:spLocks noGrp="1"/>
          </p:cNvSpPr>
          <p:nvPr>
            <p:ph idx="1"/>
          </p:nvPr>
        </p:nvSpPr>
        <p:spPr>
          <a:xfrm>
            <a:off x="571499" y="1889076"/>
            <a:ext cx="11059811" cy="3910987"/>
          </a:xfrm>
        </p:spPr>
        <p:txBody>
          <a:bodyPr vert="horz" lIns="91440" tIns="45720" rIns="91440" bIns="45720" rtlCol="0" anchor="t">
            <a:normAutofit/>
          </a:bodyPr>
          <a:lstStyle/>
          <a:p>
            <a:r>
              <a:rPr lang="en-US" sz="1800" dirty="0">
                <a:latin typeface="Arial"/>
                <a:cs typeface="Arial"/>
              </a:rPr>
              <a:t>Correlation is used to find if there is dependency between 2 numerical values. Higher the correlation, higher the dependency between those 2 numerical values.</a:t>
            </a:r>
            <a:endParaRPr lang="en-US" dirty="0"/>
          </a:p>
          <a:p>
            <a:r>
              <a:rPr lang="en-US" sz="1800" dirty="0">
                <a:latin typeface="Arial"/>
                <a:cs typeface="Arial"/>
              </a:rPr>
              <a:t>In the example above, we can see that Price range and customer ratings has a correlation value of 46% which means that with respect to the price range, the customer ratings are affected accordingly.</a:t>
            </a:r>
            <a:endParaRPr lang="en-US" dirty="0"/>
          </a:p>
          <a:p>
            <a:r>
              <a:rPr lang="en-US" sz="1800" dirty="0">
                <a:latin typeface="Arial"/>
                <a:cs typeface="Arial"/>
              </a:rPr>
              <a:t>This gives us an idea to open new restaurants considering the parameters like price range, customer ratings, average cost and total votes.</a:t>
            </a:r>
            <a:endParaRPr lang="en-US" dirty="0"/>
          </a:p>
          <a:p>
            <a:r>
              <a:rPr lang="en-US" sz="1800" dirty="0">
                <a:latin typeface="Arial"/>
                <a:cs typeface="Arial"/>
              </a:rPr>
              <a:t>For analysis, we have converted all the currencies to a single common currency. In this case, analysis has been done by converting all the currencies to </a:t>
            </a:r>
            <a:r>
              <a:rPr lang="en-US" sz="1800" b="1" dirty="0">
                <a:latin typeface="Arial"/>
                <a:cs typeface="Arial"/>
              </a:rPr>
              <a:t>Indian Rupees (Rs.).</a:t>
            </a:r>
            <a:endParaRPr lang="en-US" dirty="0"/>
          </a:p>
          <a:p>
            <a:endParaRPr lang="en-US" dirty="0"/>
          </a:p>
        </p:txBody>
      </p:sp>
      <p:pic>
        <p:nvPicPr>
          <p:cNvPr id="4" name="Picture 3" descr="A line of lines on a white background">
            <a:extLst>
              <a:ext uri="{FF2B5EF4-FFF2-40B4-BE49-F238E27FC236}">
                <a16:creationId xmlns:a16="http://schemas.microsoft.com/office/drawing/2014/main" id="{F31BF142-48F9-840C-CA67-CD5ECC3DF1A4}"/>
              </a:ext>
            </a:extLst>
          </p:cNvPr>
          <p:cNvPicPr>
            <a:picLocks noChangeAspect="1"/>
          </p:cNvPicPr>
          <p:nvPr/>
        </p:nvPicPr>
        <p:blipFill>
          <a:blip r:embed="rId2"/>
          <a:stretch>
            <a:fillRect/>
          </a:stretch>
        </p:blipFill>
        <p:spPr>
          <a:xfrm>
            <a:off x="571889" y="4906541"/>
            <a:ext cx="10706100" cy="1352550"/>
          </a:xfrm>
          <a:prstGeom prst="rect">
            <a:avLst/>
          </a:prstGeom>
        </p:spPr>
      </p:pic>
    </p:spTree>
    <p:extLst>
      <p:ext uri="{BB962C8B-B14F-4D97-AF65-F5344CB8AC3E}">
        <p14:creationId xmlns:p14="http://schemas.microsoft.com/office/powerpoint/2010/main" val="473087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6C403-DC58-0B19-9405-7D1F4510CA35}"/>
              </a:ext>
            </a:extLst>
          </p:cNvPr>
          <p:cNvSpPr>
            <a:spLocks noGrp="1"/>
          </p:cNvSpPr>
          <p:nvPr>
            <p:ph type="title"/>
          </p:nvPr>
        </p:nvSpPr>
        <p:spPr/>
        <p:txBody>
          <a:bodyPr>
            <a:normAutofit fontScale="90000"/>
          </a:bodyPr>
          <a:lstStyle/>
          <a:p>
            <a:r>
              <a:rPr lang="en-US" sz="4200" b="1" dirty="0">
                <a:latin typeface="Century Gothic"/>
              </a:rPr>
              <a:t>Recommended Cuisines</a:t>
            </a:r>
            <a:endParaRPr lang="en-US" dirty="0"/>
          </a:p>
          <a:p>
            <a:br>
              <a:rPr lang="en-US" dirty="0"/>
            </a:br>
            <a:endParaRPr lang="en-US" dirty="0"/>
          </a:p>
        </p:txBody>
      </p:sp>
      <p:sp>
        <p:nvSpPr>
          <p:cNvPr id="3" name="Content Placeholder 2">
            <a:extLst>
              <a:ext uri="{FF2B5EF4-FFF2-40B4-BE49-F238E27FC236}">
                <a16:creationId xmlns:a16="http://schemas.microsoft.com/office/drawing/2014/main" id="{9CD06591-9A3D-5910-B7A0-FCDCAB800214}"/>
              </a:ext>
            </a:extLst>
          </p:cNvPr>
          <p:cNvSpPr>
            <a:spLocks noGrp="1"/>
          </p:cNvSpPr>
          <p:nvPr>
            <p:ph type="body" sz="half" idx="2"/>
          </p:nvPr>
        </p:nvSpPr>
        <p:spPr>
          <a:xfrm>
            <a:off x="571498" y="2574906"/>
            <a:ext cx="3494338" cy="3731179"/>
          </a:xfrm>
        </p:spPr>
        <p:txBody>
          <a:bodyPr vert="horz" lIns="91440" tIns="45720" rIns="91440" bIns="45720" rtlCol="0" anchor="t">
            <a:normAutofit fontScale="92500" lnSpcReduction="20000"/>
          </a:bodyPr>
          <a:lstStyle/>
          <a:p>
            <a:r>
              <a:rPr lang="en-US" sz="1800" dirty="0">
                <a:latin typeface="Arial"/>
                <a:cs typeface="Arial"/>
              </a:rPr>
              <a:t>The cuisines definitely have an impact on the customer ratings. </a:t>
            </a:r>
            <a:endParaRPr lang="en-US" dirty="0"/>
          </a:p>
          <a:p>
            <a:r>
              <a:rPr lang="en-US" sz="1800" dirty="0">
                <a:latin typeface="Arial"/>
                <a:cs typeface="Arial"/>
              </a:rPr>
              <a:t>Consider North Indian cuisine which is available in 945 restaurants has </a:t>
            </a:r>
            <a:r>
              <a:rPr lang="en-US" sz="1800" dirty="0" err="1">
                <a:latin typeface="Arial"/>
                <a:cs typeface="Arial"/>
              </a:rPr>
              <a:t>a</a:t>
            </a:r>
            <a:r>
              <a:rPr lang="en-US" sz="1800" dirty="0">
                <a:latin typeface="Arial"/>
                <a:cs typeface="Arial"/>
              </a:rPr>
              <a:t> average rating of 2.2, whereas restaurants with Street food cuisine is available at 149 restaurants with an average rating of 2.5.</a:t>
            </a:r>
            <a:endParaRPr lang="en-US" dirty="0"/>
          </a:p>
          <a:p>
            <a:r>
              <a:rPr lang="en-US" sz="1800" dirty="0">
                <a:latin typeface="Arial"/>
                <a:cs typeface="Arial"/>
              </a:rPr>
              <a:t>From this visual, we can conclude that the customer ratings has a major effect on the choice of cuisines.</a:t>
            </a:r>
            <a:endParaRPr lang="en-US" dirty="0"/>
          </a:p>
          <a:p>
            <a:endParaRPr lang="en-US" dirty="0"/>
          </a:p>
        </p:txBody>
      </p:sp>
      <p:pic>
        <p:nvPicPr>
          <p:cNvPr id="8" name="Picture Placeholder 7">
            <a:extLst>
              <a:ext uri="{FF2B5EF4-FFF2-40B4-BE49-F238E27FC236}">
                <a16:creationId xmlns:a16="http://schemas.microsoft.com/office/drawing/2014/main" id="{97D90F12-4ECD-B27A-A41D-FBFFB5904E8F}"/>
              </a:ext>
            </a:extLst>
          </p:cNvPr>
          <p:cNvPicPr>
            <a:picLocks noGrp="1" noChangeAspect="1"/>
          </p:cNvPicPr>
          <p:nvPr>
            <p:ph type="pic" idx="1"/>
          </p:nvPr>
        </p:nvPicPr>
        <p:blipFill>
          <a:blip r:embed="rId2"/>
          <a:srcRect l="9054" r="9054"/>
          <a:stretch/>
        </p:blipFill>
        <p:spPr>
          <a:xfrm>
            <a:off x="4641184" y="798898"/>
            <a:ext cx="7002430" cy="5282681"/>
          </a:xfrm>
          <a:prstGeom prst="rect">
            <a:avLst/>
          </a:prstGeom>
        </p:spPr>
      </p:pic>
    </p:spTree>
    <p:extLst>
      <p:ext uri="{BB962C8B-B14F-4D97-AF65-F5344CB8AC3E}">
        <p14:creationId xmlns:p14="http://schemas.microsoft.com/office/powerpoint/2010/main" val="1832913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AA8E7-F50A-157A-AB44-2EA669CBD6BD}"/>
              </a:ext>
            </a:extLst>
          </p:cNvPr>
          <p:cNvSpPr>
            <a:spLocks noGrp="1"/>
          </p:cNvSpPr>
          <p:nvPr>
            <p:ph type="title"/>
          </p:nvPr>
        </p:nvSpPr>
        <p:spPr/>
        <p:txBody>
          <a:bodyPr>
            <a:normAutofit fontScale="90000"/>
          </a:bodyPr>
          <a:lstStyle/>
          <a:p>
            <a:r>
              <a:rPr lang="en-US" sz="4200" b="1" dirty="0">
                <a:latin typeface="Century Gothic"/>
                <a:ea typeface="Batang"/>
              </a:rPr>
              <a:t>Recommendations for Table Booking</a:t>
            </a:r>
            <a:endParaRPr lang="en-US" dirty="0">
              <a:ea typeface="Batang"/>
            </a:endParaRPr>
          </a:p>
        </p:txBody>
      </p:sp>
      <p:pic>
        <p:nvPicPr>
          <p:cNvPr id="5" name="Picture Placeholder 4" descr="A blue and orange circle with numbers&#10;&#10;AI-generated content may be incorrect.">
            <a:extLst>
              <a:ext uri="{FF2B5EF4-FFF2-40B4-BE49-F238E27FC236}">
                <a16:creationId xmlns:a16="http://schemas.microsoft.com/office/drawing/2014/main" id="{3448EA1F-D404-3F83-1887-21BCCC85A216}"/>
              </a:ext>
            </a:extLst>
          </p:cNvPr>
          <p:cNvPicPr>
            <a:picLocks noGrp="1" noChangeAspect="1"/>
          </p:cNvPicPr>
          <p:nvPr>
            <p:ph type="pic" idx="1"/>
          </p:nvPr>
        </p:nvPicPr>
        <p:blipFill>
          <a:blip r:embed="rId2"/>
          <a:srcRect l="9054" r="9054"/>
          <a:stretch/>
        </p:blipFill>
        <p:spPr>
          <a:xfrm>
            <a:off x="4583140" y="1122885"/>
            <a:ext cx="7303619" cy="4610990"/>
          </a:xfrm>
          <a:prstGeom prst="rect">
            <a:avLst/>
          </a:prstGeom>
        </p:spPr>
      </p:pic>
      <p:sp>
        <p:nvSpPr>
          <p:cNvPr id="4" name="Text Placeholder 3">
            <a:extLst>
              <a:ext uri="{FF2B5EF4-FFF2-40B4-BE49-F238E27FC236}">
                <a16:creationId xmlns:a16="http://schemas.microsoft.com/office/drawing/2014/main" id="{D07A93E4-071F-6C7A-6194-09BD00E5A500}"/>
              </a:ext>
            </a:extLst>
          </p:cNvPr>
          <p:cNvSpPr>
            <a:spLocks noGrp="1"/>
          </p:cNvSpPr>
          <p:nvPr>
            <p:ph type="body" sz="half" idx="2"/>
          </p:nvPr>
        </p:nvSpPr>
        <p:spPr/>
        <p:txBody>
          <a:bodyPr vert="horz" lIns="91440" tIns="45720" rIns="91440" bIns="45720" rtlCol="0" anchor="t">
            <a:normAutofit fontScale="92500" lnSpcReduction="10000"/>
          </a:bodyPr>
          <a:lstStyle/>
          <a:p>
            <a:pPr marL="285750" indent="-285750">
              <a:buFont typeface="Arial"/>
              <a:buChar char="•"/>
            </a:pPr>
            <a:r>
              <a:rPr lang="en-US" sz="1800" dirty="0">
                <a:latin typeface="Arial"/>
                <a:cs typeface="Arial"/>
              </a:rPr>
              <a:t>From the chart, we can see that restaurant offering table booking is less than the ones that does not offer table booking.</a:t>
            </a:r>
            <a:endParaRPr lang="en-US" dirty="0"/>
          </a:p>
          <a:p>
            <a:pPr marL="285750" indent="-285750">
              <a:buFont typeface="Arial"/>
              <a:buChar char="•"/>
            </a:pPr>
            <a:r>
              <a:rPr lang="en-US" sz="1800" dirty="0">
                <a:latin typeface="Arial"/>
                <a:cs typeface="Arial"/>
              </a:rPr>
              <a:t>While opening a new restaurant in any of the suggested cities, table bookings can increase or decrease depending on the location / locality.</a:t>
            </a:r>
            <a:endParaRPr lang="en-US" dirty="0"/>
          </a:p>
          <a:p>
            <a:endParaRPr lang="en-US" dirty="0"/>
          </a:p>
        </p:txBody>
      </p:sp>
    </p:spTree>
    <p:extLst>
      <p:ext uri="{BB962C8B-B14F-4D97-AF65-F5344CB8AC3E}">
        <p14:creationId xmlns:p14="http://schemas.microsoft.com/office/powerpoint/2010/main" val="23859146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F86B-2BB5-D8C0-D3DA-61FE50AA331E}"/>
              </a:ext>
            </a:extLst>
          </p:cNvPr>
          <p:cNvSpPr>
            <a:spLocks noGrp="1"/>
          </p:cNvSpPr>
          <p:nvPr>
            <p:ph type="title"/>
          </p:nvPr>
        </p:nvSpPr>
        <p:spPr/>
        <p:txBody>
          <a:bodyPr>
            <a:normAutofit fontScale="90000"/>
          </a:bodyPr>
          <a:lstStyle/>
          <a:p>
            <a:r>
              <a:rPr lang="en-US" sz="4200" b="1" dirty="0">
                <a:latin typeface="Century Gothic"/>
              </a:rPr>
              <a:t>Recommendations for Online Delivery</a:t>
            </a:r>
            <a:endParaRPr lang="en-US" dirty="0"/>
          </a:p>
        </p:txBody>
      </p:sp>
      <p:pic>
        <p:nvPicPr>
          <p:cNvPr id="5" name="Picture Placeholder 4" descr="A blue and orange circle with numbers">
            <a:extLst>
              <a:ext uri="{FF2B5EF4-FFF2-40B4-BE49-F238E27FC236}">
                <a16:creationId xmlns:a16="http://schemas.microsoft.com/office/drawing/2014/main" id="{C6B6F75D-5C1D-329C-87BB-302392C57CA6}"/>
              </a:ext>
            </a:extLst>
          </p:cNvPr>
          <p:cNvPicPr>
            <a:picLocks noGrp="1" noChangeAspect="1"/>
          </p:cNvPicPr>
          <p:nvPr>
            <p:ph type="pic" idx="1"/>
          </p:nvPr>
        </p:nvPicPr>
        <p:blipFill>
          <a:blip r:embed="rId2"/>
          <a:srcRect l="9054" r="9054"/>
          <a:stretch/>
        </p:blipFill>
        <p:spPr>
          <a:xfrm>
            <a:off x="4583860" y="1238453"/>
            <a:ext cx="7384410" cy="4379855"/>
          </a:xfrm>
          <a:prstGeom prst="rect">
            <a:avLst/>
          </a:prstGeom>
        </p:spPr>
      </p:pic>
      <p:sp>
        <p:nvSpPr>
          <p:cNvPr id="4" name="Text Placeholder 3">
            <a:extLst>
              <a:ext uri="{FF2B5EF4-FFF2-40B4-BE49-F238E27FC236}">
                <a16:creationId xmlns:a16="http://schemas.microsoft.com/office/drawing/2014/main" id="{606863A4-09FA-94D6-8051-6670BB33AAA0}"/>
              </a:ext>
            </a:extLst>
          </p:cNvPr>
          <p:cNvSpPr>
            <a:spLocks noGrp="1"/>
          </p:cNvSpPr>
          <p:nvPr>
            <p:ph type="body" sz="half" idx="2"/>
          </p:nvPr>
        </p:nvSpPr>
        <p:spPr/>
        <p:txBody>
          <a:bodyPr vert="horz" lIns="91440" tIns="45720" rIns="91440" bIns="45720" rtlCol="0" anchor="t">
            <a:normAutofit fontScale="92500" lnSpcReduction="10000"/>
          </a:bodyPr>
          <a:lstStyle/>
          <a:p>
            <a:pPr marL="285750" indent="-285750">
              <a:buFont typeface="Arial"/>
              <a:buChar char="•"/>
            </a:pPr>
            <a:r>
              <a:rPr lang="en-US" sz="1800" dirty="0">
                <a:latin typeface="Arial"/>
                <a:cs typeface="Arial"/>
              </a:rPr>
              <a:t>Around 25-28% of the restaurants offer online deliveries and the average ratings are higher than the restaurants that do not offer online delivery.</a:t>
            </a:r>
            <a:endParaRPr lang="en-US" dirty="0"/>
          </a:p>
          <a:p>
            <a:pPr marL="285750" indent="-285750">
              <a:buFont typeface="Arial"/>
              <a:buChar char="•"/>
            </a:pPr>
            <a:r>
              <a:rPr lang="en-US" sz="1800" dirty="0">
                <a:latin typeface="Arial"/>
                <a:cs typeface="Arial"/>
              </a:rPr>
              <a:t>On analysis for the suggested cities, online delivery can be done for countries like India where many restaurants offer the same.</a:t>
            </a:r>
            <a:endParaRPr lang="en-US" dirty="0"/>
          </a:p>
          <a:p>
            <a:endParaRPr lang="en-US" dirty="0"/>
          </a:p>
        </p:txBody>
      </p:sp>
    </p:spTree>
    <p:extLst>
      <p:ext uri="{BB962C8B-B14F-4D97-AF65-F5344CB8AC3E}">
        <p14:creationId xmlns:p14="http://schemas.microsoft.com/office/powerpoint/2010/main" val="3839345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4188E-B45E-CD6A-AB11-6FBD5CB19C2D}"/>
              </a:ext>
            </a:extLst>
          </p:cNvPr>
          <p:cNvSpPr>
            <a:spLocks noGrp="1"/>
          </p:cNvSpPr>
          <p:nvPr>
            <p:ph type="title"/>
          </p:nvPr>
        </p:nvSpPr>
        <p:spPr/>
        <p:txBody>
          <a:bodyPr>
            <a:normAutofit fontScale="90000"/>
          </a:bodyPr>
          <a:lstStyle/>
          <a:p>
            <a:r>
              <a:rPr lang="en-US" sz="2800" b="1" dirty="0">
                <a:latin typeface="Century Gothic"/>
                <a:ea typeface="Batang"/>
              </a:rPr>
              <a:t>Recommendations for Improving Customer Rating</a:t>
            </a:r>
            <a:endParaRPr lang="en-US" sz="2800">
              <a:ea typeface="Batang"/>
            </a:endParaRPr>
          </a:p>
          <a:p>
            <a:br>
              <a:rPr lang="en-US" dirty="0"/>
            </a:br>
            <a:endParaRPr lang="en-US" dirty="0"/>
          </a:p>
        </p:txBody>
      </p:sp>
      <p:pic>
        <p:nvPicPr>
          <p:cNvPr id="5" name="Picture Placeholder 4" descr="A graph with numbers and a bar&#10;&#10;AI-generated content may be incorrect.">
            <a:extLst>
              <a:ext uri="{FF2B5EF4-FFF2-40B4-BE49-F238E27FC236}">
                <a16:creationId xmlns:a16="http://schemas.microsoft.com/office/drawing/2014/main" id="{F2923980-3F56-3353-E094-D305F099E687}"/>
              </a:ext>
            </a:extLst>
          </p:cNvPr>
          <p:cNvPicPr>
            <a:picLocks noGrp="1" noChangeAspect="1"/>
          </p:cNvPicPr>
          <p:nvPr>
            <p:ph type="pic" idx="1"/>
          </p:nvPr>
        </p:nvPicPr>
        <p:blipFill>
          <a:blip r:embed="rId2"/>
          <a:srcRect l="9159" r="9159"/>
          <a:stretch/>
        </p:blipFill>
        <p:spPr>
          <a:xfrm>
            <a:off x="4723467" y="1325579"/>
            <a:ext cx="6907844" cy="4260422"/>
          </a:xfrm>
          <a:prstGeom prst="rect">
            <a:avLst/>
          </a:prstGeom>
        </p:spPr>
      </p:pic>
      <p:sp>
        <p:nvSpPr>
          <p:cNvPr id="4" name="Text Placeholder 3">
            <a:extLst>
              <a:ext uri="{FF2B5EF4-FFF2-40B4-BE49-F238E27FC236}">
                <a16:creationId xmlns:a16="http://schemas.microsoft.com/office/drawing/2014/main" id="{43836746-86E2-1575-015C-9263B7169CD4}"/>
              </a:ext>
            </a:extLst>
          </p:cNvPr>
          <p:cNvSpPr>
            <a:spLocks noGrp="1"/>
          </p:cNvSpPr>
          <p:nvPr>
            <p:ph type="body" sz="half" idx="2"/>
          </p:nvPr>
        </p:nvSpPr>
        <p:spPr/>
        <p:txBody>
          <a:bodyPr vert="horz" lIns="91440" tIns="45720" rIns="91440" bIns="45720" rtlCol="0" anchor="t">
            <a:normAutofit fontScale="85000" lnSpcReduction="10000"/>
          </a:bodyPr>
          <a:lstStyle/>
          <a:p>
            <a:pPr marL="285750" indent="-285750" algn="just">
              <a:buFont typeface="Arial"/>
              <a:buChar char="•"/>
            </a:pPr>
            <a:r>
              <a:rPr lang="en-US" sz="1800" dirty="0">
                <a:latin typeface="Arial"/>
                <a:cs typeface="Arial"/>
              </a:rPr>
              <a:t>The number of restaurants have been categorized in terms of ratings.</a:t>
            </a:r>
            <a:endParaRPr lang="en-US" dirty="0"/>
          </a:p>
          <a:p>
            <a:pPr marL="285750" indent="-285750" algn="just">
              <a:buFont typeface="Arial"/>
              <a:buChar char="•"/>
            </a:pPr>
            <a:r>
              <a:rPr lang="en-US" sz="1800" dirty="0">
                <a:latin typeface="Arial"/>
                <a:cs typeface="Arial"/>
              </a:rPr>
              <a:t>The restaurants have been </a:t>
            </a:r>
            <a:r>
              <a:rPr lang="en-US" sz="1800" dirty="0" err="1">
                <a:latin typeface="Arial"/>
                <a:cs typeface="Arial"/>
              </a:rPr>
              <a:t>categorised</a:t>
            </a:r>
            <a:r>
              <a:rPr lang="en-US" sz="1800" dirty="0">
                <a:latin typeface="Arial"/>
                <a:cs typeface="Arial"/>
              </a:rPr>
              <a:t> as Bad, Average, Good, Excellent and Outstanding on the basis of customer ratings. </a:t>
            </a:r>
            <a:endParaRPr lang="en-US" dirty="0"/>
          </a:p>
          <a:p>
            <a:pPr marL="285750" indent="-285750" algn="just">
              <a:buFont typeface="Arial"/>
              <a:buChar char="•"/>
            </a:pPr>
            <a:r>
              <a:rPr lang="en-US" sz="1800" dirty="0">
                <a:latin typeface="Arial"/>
                <a:cs typeface="Arial"/>
              </a:rPr>
              <a:t>With this, we can </a:t>
            </a:r>
            <a:r>
              <a:rPr lang="en-US" sz="1800" dirty="0" err="1">
                <a:latin typeface="Arial"/>
                <a:cs typeface="Arial"/>
              </a:rPr>
              <a:t>analyse</a:t>
            </a:r>
            <a:r>
              <a:rPr lang="en-US" sz="1800" dirty="0">
                <a:latin typeface="Arial"/>
                <a:cs typeface="Arial"/>
              </a:rPr>
              <a:t> the restaurant ratings and provide insights to improve the ratings in the future.</a:t>
            </a:r>
            <a:endParaRPr lang="en-US" dirty="0"/>
          </a:p>
          <a:p>
            <a:endParaRPr lang="en-US" dirty="0"/>
          </a:p>
        </p:txBody>
      </p:sp>
    </p:spTree>
    <p:extLst>
      <p:ext uri="{BB962C8B-B14F-4D97-AF65-F5344CB8AC3E}">
        <p14:creationId xmlns:p14="http://schemas.microsoft.com/office/powerpoint/2010/main" val="2463371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8954-00F6-18F2-B816-9D50AADD56A1}"/>
              </a:ext>
            </a:extLst>
          </p:cNvPr>
          <p:cNvSpPr>
            <a:spLocks noGrp="1"/>
          </p:cNvSpPr>
          <p:nvPr>
            <p:ph type="title"/>
          </p:nvPr>
        </p:nvSpPr>
        <p:spPr/>
        <p:txBody>
          <a:bodyPr>
            <a:normAutofit fontScale="90000"/>
          </a:bodyPr>
          <a:lstStyle/>
          <a:p>
            <a:r>
              <a:rPr lang="en-US" sz="2800" b="1" dirty="0">
                <a:latin typeface="Century Gothic"/>
                <a:ea typeface="Batang"/>
              </a:rPr>
              <a:t>Recommendations for Improving Votes and Ratings </a:t>
            </a:r>
            <a:endParaRPr lang="en-US" sz="2800" dirty="0">
              <a:ea typeface="Batang"/>
            </a:endParaRPr>
          </a:p>
          <a:p>
            <a:br>
              <a:rPr lang="en-US" dirty="0"/>
            </a:br>
            <a:endParaRPr lang="en-US" dirty="0"/>
          </a:p>
        </p:txBody>
      </p:sp>
      <p:pic>
        <p:nvPicPr>
          <p:cNvPr id="5" name="Picture Placeholder 4" descr="A graph with red bars and numbers&#10;&#10;AI-generated content may be incorrect.">
            <a:extLst>
              <a:ext uri="{FF2B5EF4-FFF2-40B4-BE49-F238E27FC236}">
                <a16:creationId xmlns:a16="http://schemas.microsoft.com/office/drawing/2014/main" id="{2987A0B1-DB88-93EF-4826-2951526F7603}"/>
              </a:ext>
              <a:ext uri="{C183D7F6-B498-43B3-948B-1728B52AA6E4}">
                <adec:decorative xmlns:adec="http://schemas.microsoft.com/office/drawing/2017/decorative" val="0"/>
              </a:ext>
            </a:extLst>
          </p:cNvPr>
          <p:cNvPicPr>
            <a:picLocks noGrp="1" noChangeAspect="1"/>
          </p:cNvPicPr>
          <p:nvPr>
            <p:ph type="pic" idx="1"/>
          </p:nvPr>
        </p:nvPicPr>
        <p:blipFill>
          <a:blip r:embed="rId2"/>
          <a:srcRect l="8789" r="8789"/>
          <a:stretch/>
        </p:blipFill>
        <p:spPr>
          <a:xfrm>
            <a:off x="4723467" y="1306319"/>
            <a:ext cx="7187426" cy="42989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a:extLst>
              <a:ext uri="{FF2B5EF4-FFF2-40B4-BE49-F238E27FC236}">
                <a16:creationId xmlns:a16="http://schemas.microsoft.com/office/drawing/2014/main" id="{58ED3E66-7B5E-0DEC-ADA9-12D0B12D4FCE}"/>
              </a:ext>
            </a:extLst>
          </p:cNvPr>
          <p:cNvSpPr>
            <a:spLocks noGrp="1"/>
          </p:cNvSpPr>
          <p:nvPr>
            <p:ph type="body" sz="half" idx="2"/>
          </p:nvPr>
        </p:nvSpPr>
        <p:spPr/>
        <p:txBody>
          <a:bodyPr vert="horz" lIns="91440" tIns="45720" rIns="91440" bIns="45720" rtlCol="0" anchor="t">
            <a:normAutofit fontScale="70000" lnSpcReduction="20000"/>
          </a:bodyPr>
          <a:lstStyle/>
          <a:p>
            <a:pPr marL="285750" indent="-285750">
              <a:buFont typeface="Arial"/>
              <a:buChar char="•"/>
            </a:pPr>
            <a:r>
              <a:rPr lang="en-US" sz="1800" dirty="0">
                <a:latin typeface="Arial"/>
                <a:cs typeface="Arial"/>
              </a:rPr>
              <a:t>The number of restaurants have been categorized with respect to the total voters.</a:t>
            </a:r>
            <a:endParaRPr lang="en-US" dirty="0"/>
          </a:p>
          <a:p>
            <a:pPr marL="285750" indent="-285750">
              <a:buFont typeface="Arial"/>
              <a:buChar char="•"/>
            </a:pPr>
            <a:r>
              <a:rPr lang="en-US" sz="1800" dirty="0">
                <a:latin typeface="Arial"/>
                <a:cs typeface="Arial"/>
              </a:rPr>
              <a:t>This gives an idea of how many people have voted across the categories.</a:t>
            </a:r>
            <a:endParaRPr lang="en-US" dirty="0"/>
          </a:p>
          <a:p>
            <a:pPr marL="285750" indent="-285750">
              <a:buFont typeface="Arial"/>
              <a:buChar char="•"/>
            </a:pPr>
            <a:r>
              <a:rPr lang="en-US" sz="1800" dirty="0">
                <a:latin typeface="Arial"/>
                <a:cs typeface="Arial"/>
              </a:rPr>
              <a:t>We can observe that most of the customers have voted for Good rating category (ratings between 3 and 4).</a:t>
            </a:r>
            <a:endParaRPr lang="en-US" dirty="0"/>
          </a:p>
          <a:p>
            <a:pPr marL="285750" indent="-285750">
              <a:buFont typeface="Arial"/>
              <a:buChar char="•"/>
            </a:pPr>
            <a:r>
              <a:rPr lang="en-US" sz="1800" dirty="0">
                <a:latin typeface="Arial"/>
                <a:cs typeface="Arial"/>
              </a:rPr>
              <a:t>The count of votes significantly plays a major role in the ratings and this factor should be considered while opening a new restaurant in the future.</a:t>
            </a:r>
            <a:endParaRPr lang="en-US" dirty="0"/>
          </a:p>
          <a:p>
            <a:endParaRPr lang="en-US" dirty="0"/>
          </a:p>
        </p:txBody>
      </p:sp>
    </p:spTree>
    <p:extLst>
      <p:ext uri="{BB962C8B-B14F-4D97-AF65-F5344CB8AC3E}">
        <p14:creationId xmlns:p14="http://schemas.microsoft.com/office/powerpoint/2010/main" val="4017039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5B7FF-085C-5767-479B-1AD1B020856B}"/>
              </a:ext>
            </a:extLst>
          </p:cNvPr>
          <p:cNvSpPr>
            <a:spLocks noGrp="1"/>
          </p:cNvSpPr>
          <p:nvPr>
            <p:ph type="title"/>
          </p:nvPr>
        </p:nvSpPr>
        <p:spPr/>
        <p:txBody>
          <a:bodyPr/>
          <a:lstStyle/>
          <a:p>
            <a:r>
              <a:rPr lang="en-US" sz="4000" b="1">
                <a:latin typeface="Century Gothic"/>
                <a:ea typeface="Century Gothic"/>
                <a:cs typeface="Century Gothic"/>
              </a:rPr>
              <a:t>DASHBOARD AND VISUALIZATIONS</a:t>
            </a:r>
            <a:endParaRPr lang="en-US"/>
          </a:p>
        </p:txBody>
      </p:sp>
    </p:spTree>
    <p:extLst>
      <p:ext uri="{BB962C8B-B14F-4D97-AF65-F5344CB8AC3E}">
        <p14:creationId xmlns:p14="http://schemas.microsoft.com/office/powerpoint/2010/main" val="1594908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43485-ED4C-F421-9240-6ABBD48BEAEF}"/>
              </a:ext>
            </a:extLst>
          </p:cNvPr>
          <p:cNvSpPr>
            <a:spLocks noGrp="1"/>
          </p:cNvSpPr>
          <p:nvPr>
            <p:ph type="title"/>
          </p:nvPr>
        </p:nvSpPr>
        <p:spPr/>
        <p:txBody>
          <a:bodyPr/>
          <a:lstStyle/>
          <a:p>
            <a:r>
              <a:rPr lang="en-US" sz="4200" b="1" dirty="0">
                <a:latin typeface="Century Gothic"/>
              </a:rPr>
              <a:t>Dashboard and Visualizations</a:t>
            </a:r>
            <a:endParaRPr lang="en-US" dirty="0"/>
          </a:p>
        </p:txBody>
      </p:sp>
      <p:pic>
        <p:nvPicPr>
          <p:cNvPr id="4" name="Content Placeholder 3" descr="A screenshot of a restaurant report&#10;&#10;AI-generated content may be incorrect.">
            <a:extLst>
              <a:ext uri="{FF2B5EF4-FFF2-40B4-BE49-F238E27FC236}">
                <a16:creationId xmlns:a16="http://schemas.microsoft.com/office/drawing/2014/main" id="{A6AC1C37-A473-AD11-7E87-B8991803F0BD}"/>
              </a:ext>
            </a:extLst>
          </p:cNvPr>
          <p:cNvPicPr>
            <a:picLocks noGrp="1" noChangeAspect="1"/>
          </p:cNvPicPr>
          <p:nvPr>
            <p:ph idx="1"/>
          </p:nvPr>
        </p:nvPicPr>
        <p:blipFill>
          <a:blip r:embed="rId2"/>
          <a:stretch>
            <a:fillRect/>
          </a:stretch>
        </p:blipFill>
        <p:spPr>
          <a:xfrm>
            <a:off x="962730" y="2075688"/>
            <a:ext cx="10277349" cy="3910987"/>
          </a:xfrm>
          <a:prstGeom prst="rect">
            <a:avLst/>
          </a:prstGeom>
        </p:spPr>
      </p:pic>
    </p:spTree>
    <p:extLst>
      <p:ext uri="{BB962C8B-B14F-4D97-AF65-F5344CB8AC3E}">
        <p14:creationId xmlns:p14="http://schemas.microsoft.com/office/powerpoint/2010/main" val="996039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1BE8-2FCC-8A50-EA95-767D04E5D0BA}"/>
              </a:ext>
            </a:extLst>
          </p:cNvPr>
          <p:cNvSpPr>
            <a:spLocks noGrp="1"/>
          </p:cNvSpPr>
          <p:nvPr>
            <p:ph type="title"/>
          </p:nvPr>
        </p:nvSpPr>
        <p:spPr/>
        <p:txBody>
          <a:bodyPr/>
          <a:lstStyle/>
          <a:p>
            <a:r>
              <a:rPr lang="en-US" sz="4200" b="1" dirty="0">
                <a:latin typeface="Century Gothic"/>
              </a:rPr>
              <a:t>Dashboard and Visualizations</a:t>
            </a:r>
            <a:endParaRPr lang="en-US" dirty="0"/>
          </a:p>
        </p:txBody>
      </p:sp>
      <p:sp>
        <p:nvSpPr>
          <p:cNvPr id="3" name="Content Placeholder 2">
            <a:extLst>
              <a:ext uri="{FF2B5EF4-FFF2-40B4-BE49-F238E27FC236}">
                <a16:creationId xmlns:a16="http://schemas.microsoft.com/office/drawing/2014/main" id="{4D25D24D-B79C-2107-1089-A7C377FDFFD3}"/>
              </a:ext>
            </a:extLst>
          </p:cNvPr>
          <p:cNvSpPr>
            <a:spLocks noGrp="1"/>
          </p:cNvSpPr>
          <p:nvPr>
            <p:ph idx="1"/>
          </p:nvPr>
        </p:nvSpPr>
        <p:spPr/>
        <p:txBody>
          <a:bodyPr vert="horz" lIns="91440" tIns="45720" rIns="91440" bIns="45720" rtlCol="0" anchor="t">
            <a:normAutofit fontScale="92500" lnSpcReduction="10000"/>
          </a:bodyPr>
          <a:lstStyle/>
          <a:p>
            <a:r>
              <a:rPr lang="en-US" sz="1800" dirty="0">
                <a:latin typeface="Calibri"/>
                <a:ea typeface="Calibri"/>
                <a:cs typeface="Calibri"/>
              </a:rPr>
              <a:t>The dashboard in the previous slide consists of the following:</a:t>
            </a:r>
            <a:endParaRPr lang="en-US" dirty="0"/>
          </a:p>
          <a:p>
            <a:r>
              <a:rPr lang="en-US" sz="1800" b="1" dirty="0">
                <a:latin typeface="Calibri"/>
                <a:ea typeface="Calibri"/>
                <a:cs typeface="Calibri"/>
              </a:rPr>
              <a:t>Timeline : </a:t>
            </a:r>
            <a:r>
              <a:rPr lang="en-US" sz="1800" dirty="0">
                <a:latin typeface="Calibri"/>
                <a:ea typeface="Calibri"/>
                <a:cs typeface="Calibri"/>
              </a:rPr>
              <a:t>Using the </a:t>
            </a:r>
            <a:r>
              <a:rPr lang="en-US" sz="1800" dirty="0" err="1">
                <a:latin typeface="Calibri"/>
                <a:ea typeface="Calibri"/>
                <a:cs typeface="Calibri"/>
              </a:rPr>
              <a:t>Datekey_Opening</a:t>
            </a:r>
            <a:r>
              <a:rPr lang="en-US" sz="1800" dirty="0">
                <a:latin typeface="Calibri"/>
                <a:ea typeface="Calibri"/>
                <a:cs typeface="Calibri"/>
              </a:rPr>
              <a:t> to display the data in terms of Days, Months, Quarters and Days</a:t>
            </a:r>
            <a:endParaRPr lang="en-US" dirty="0"/>
          </a:p>
          <a:p>
            <a:r>
              <a:rPr lang="en-US" sz="1800" b="1" dirty="0">
                <a:latin typeface="Calibri"/>
                <a:ea typeface="Calibri"/>
                <a:cs typeface="Calibri"/>
              </a:rPr>
              <a:t>Slicers:</a:t>
            </a:r>
            <a:r>
              <a:rPr lang="en-US" sz="1800" dirty="0">
                <a:latin typeface="Calibri"/>
                <a:ea typeface="Calibri"/>
                <a:cs typeface="Calibri"/>
              </a:rPr>
              <a:t> Values in the Country Name Column to filter the data according to the country Name.</a:t>
            </a:r>
            <a:endParaRPr lang="en-US" dirty="0"/>
          </a:p>
          <a:p>
            <a:r>
              <a:rPr lang="en-US" sz="1800" b="1" dirty="0">
                <a:latin typeface="Calibri"/>
                <a:ea typeface="Calibri"/>
                <a:cs typeface="Calibri"/>
              </a:rPr>
              <a:t>Charts –</a:t>
            </a:r>
            <a:endParaRPr lang="en-US" dirty="0"/>
          </a:p>
          <a:p>
            <a:pPr lvl="1">
              <a:buFont typeface="Avenir Next LT Pro Light" panose="020B0604020202020204" pitchFamily="34" charset="0"/>
              <a:buChar char="–"/>
            </a:pPr>
            <a:r>
              <a:rPr lang="en-US" sz="1600" b="1" dirty="0">
                <a:latin typeface="Calibri"/>
                <a:ea typeface="Calibri"/>
                <a:cs typeface="Calibri"/>
              </a:rPr>
              <a:t>Pie Charts: </a:t>
            </a:r>
            <a:r>
              <a:rPr lang="en-US" sz="1600" dirty="0">
                <a:latin typeface="Calibri"/>
                <a:ea typeface="Calibri"/>
                <a:cs typeface="Calibri"/>
              </a:rPr>
              <a:t>Used to view the distribution of restaurants across various parameters like Table Booking, Online Delivery, Price Range</a:t>
            </a:r>
            <a:endParaRPr lang="en-US" dirty="0"/>
          </a:p>
          <a:p>
            <a:pPr lvl="1">
              <a:buFont typeface="Avenir Next LT Pro Light" panose="020B0604020202020204" pitchFamily="34" charset="0"/>
              <a:buChar char="–"/>
            </a:pPr>
            <a:r>
              <a:rPr lang="en-US" sz="1600" b="1" dirty="0">
                <a:latin typeface="Calibri"/>
                <a:ea typeface="Calibri"/>
                <a:cs typeface="Calibri"/>
              </a:rPr>
              <a:t>Column Charts : </a:t>
            </a:r>
            <a:r>
              <a:rPr lang="en-US" sz="1600" dirty="0">
                <a:latin typeface="Calibri"/>
                <a:ea typeface="Calibri"/>
                <a:cs typeface="Calibri"/>
              </a:rPr>
              <a:t>To view the count of restaurants according to countries, the rating category, number of voters and the restaurants opened month wise etc.</a:t>
            </a:r>
            <a:endParaRPr lang="en-US" dirty="0"/>
          </a:p>
          <a:p>
            <a:r>
              <a:rPr lang="en-US" sz="1800" dirty="0">
                <a:latin typeface="Calibri"/>
                <a:ea typeface="Calibri"/>
                <a:cs typeface="Calibri"/>
              </a:rPr>
              <a:t>The visuals are dynamic and change with respect to the selected countries. Multiple countries can be selected. The same applies to the date range timeline too.</a:t>
            </a:r>
            <a:endParaRPr lang="en-US" dirty="0"/>
          </a:p>
          <a:p>
            <a:r>
              <a:rPr lang="en-US" sz="1800" dirty="0">
                <a:latin typeface="Calibri"/>
                <a:ea typeface="Calibri"/>
                <a:cs typeface="Calibri"/>
              </a:rPr>
              <a:t>The dashboard in the next slide displays all the visuals with respect to a particular country. For example, the country considered for the visualization is India. </a:t>
            </a:r>
            <a:endParaRPr lang="en-US" dirty="0"/>
          </a:p>
          <a:p>
            <a:endParaRPr lang="en-US" dirty="0"/>
          </a:p>
        </p:txBody>
      </p:sp>
    </p:spTree>
    <p:extLst>
      <p:ext uri="{BB962C8B-B14F-4D97-AF65-F5344CB8AC3E}">
        <p14:creationId xmlns:p14="http://schemas.microsoft.com/office/powerpoint/2010/main" val="1706378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4A786-12E2-272C-BFEB-02EC17BB6F27}"/>
              </a:ext>
            </a:extLst>
          </p:cNvPr>
          <p:cNvSpPr>
            <a:spLocks noGrp="1"/>
          </p:cNvSpPr>
          <p:nvPr>
            <p:ph type="title"/>
          </p:nvPr>
        </p:nvSpPr>
        <p:spPr>
          <a:xfrm>
            <a:off x="571500" y="1177188"/>
            <a:ext cx="11049000" cy="1084101"/>
          </a:xfrm>
        </p:spPr>
        <p:txBody>
          <a:bodyPr>
            <a:normAutofit fontScale="90000"/>
          </a:bodyPr>
          <a:lstStyle/>
          <a:p>
            <a:r>
              <a:rPr lang="en-US" sz="4200" b="1" dirty="0">
                <a:latin typeface="Century Gothic"/>
                <a:ea typeface="Batang"/>
              </a:rPr>
              <a:t>Dashboard and Visualizations</a:t>
            </a:r>
            <a:endParaRPr lang="en-US" dirty="0">
              <a:ea typeface="Batang"/>
            </a:endParaRPr>
          </a:p>
          <a:p>
            <a:br>
              <a:rPr lang="en-US" dirty="0"/>
            </a:br>
            <a:endParaRPr lang="en-US" dirty="0"/>
          </a:p>
        </p:txBody>
      </p:sp>
      <p:pic>
        <p:nvPicPr>
          <p:cNvPr id="4" name="Content Placeholder 3" descr="A white card with black numbers">
            <a:extLst>
              <a:ext uri="{FF2B5EF4-FFF2-40B4-BE49-F238E27FC236}">
                <a16:creationId xmlns:a16="http://schemas.microsoft.com/office/drawing/2014/main" id="{721A6619-68E2-0306-1D30-B04B8EB99BC7}"/>
              </a:ext>
            </a:extLst>
          </p:cNvPr>
          <p:cNvPicPr>
            <a:picLocks noGrp="1" noChangeAspect="1"/>
          </p:cNvPicPr>
          <p:nvPr>
            <p:ph idx="1"/>
          </p:nvPr>
        </p:nvPicPr>
        <p:blipFill>
          <a:blip r:embed="rId2"/>
          <a:stretch>
            <a:fillRect/>
          </a:stretch>
        </p:blipFill>
        <p:spPr>
          <a:xfrm>
            <a:off x="560535" y="2381983"/>
            <a:ext cx="11059811" cy="1050771"/>
          </a:xfrm>
          <a:prstGeom prst="rect">
            <a:avLst/>
          </a:prstGeom>
        </p:spPr>
      </p:pic>
      <p:sp>
        <p:nvSpPr>
          <p:cNvPr id="5" name="TextBox 4">
            <a:extLst>
              <a:ext uri="{FF2B5EF4-FFF2-40B4-BE49-F238E27FC236}">
                <a16:creationId xmlns:a16="http://schemas.microsoft.com/office/drawing/2014/main" id="{4762B8F5-108E-DE49-95FB-53AACB1A7F5E}"/>
              </a:ext>
            </a:extLst>
          </p:cNvPr>
          <p:cNvSpPr txBox="1"/>
          <p:nvPr/>
        </p:nvSpPr>
        <p:spPr>
          <a:xfrm>
            <a:off x="837652" y="3693781"/>
            <a:ext cx="9381919"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dirty="0">
                <a:latin typeface="Calibri"/>
                <a:ea typeface="Calibri"/>
                <a:cs typeface="Calibri"/>
              </a:rPr>
              <a:t>The parameters in the above visuals are termed as KPIs (Key Performance Indicators), representing the values of each parameters.</a:t>
            </a:r>
            <a:endParaRPr lang="en-US" dirty="0"/>
          </a:p>
          <a:p>
            <a:pPr marL="285750" indent="-285750">
              <a:buFont typeface="Arial"/>
              <a:buChar char="•"/>
            </a:pPr>
            <a:r>
              <a:rPr lang="en-US" sz="2000" dirty="0">
                <a:latin typeface="Calibri"/>
                <a:ea typeface="Calibri"/>
                <a:cs typeface="Calibri"/>
              </a:rPr>
              <a:t>At a glance, we can get insights from the dashboard like the number of restaurants, number of countries, average customer rating, number of cuisines, total votes etc.</a:t>
            </a:r>
            <a:endParaRPr lang="en-US" dirty="0"/>
          </a:p>
          <a:p>
            <a:pPr marL="285750" indent="-285750">
              <a:buFont typeface="Arial"/>
              <a:buChar char="•"/>
            </a:pPr>
            <a:r>
              <a:rPr lang="en-US" sz="2000" dirty="0">
                <a:latin typeface="Calibri"/>
                <a:ea typeface="Calibri"/>
                <a:cs typeface="Calibri"/>
              </a:rPr>
              <a:t>These visuals are user friendly and easier to understand.</a:t>
            </a:r>
            <a:endParaRPr lang="en-US" dirty="0"/>
          </a:p>
          <a:p>
            <a:br>
              <a:rPr lang="en-US" dirty="0"/>
            </a:br>
            <a:endParaRPr lang="en-US" dirty="0"/>
          </a:p>
        </p:txBody>
      </p:sp>
    </p:spTree>
    <p:extLst>
      <p:ext uri="{BB962C8B-B14F-4D97-AF65-F5344CB8AC3E}">
        <p14:creationId xmlns:p14="http://schemas.microsoft.com/office/powerpoint/2010/main" val="33764463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34328-4EDB-4C1E-2D11-3C09E33BF9EE}"/>
              </a:ext>
            </a:extLst>
          </p:cNvPr>
          <p:cNvSpPr>
            <a:spLocks noGrp="1"/>
          </p:cNvSpPr>
          <p:nvPr>
            <p:ph type="title"/>
          </p:nvPr>
        </p:nvSpPr>
        <p:spPr/>
        <p:txBody>
          <a:bodyPr/>
          <a:lstStyle/>
          <a:p>
            <a:r>
              <a:rPr lang="en-US" sz="4000" b="1" dirty="0">
                <a:latin typeface="Century Gothic"/>
              </a:rPr>
              <a:t>CONCLUSION</a:t>
            </a:r>
            <a:endParaRPr lang="en-US" dirty="0"/>
          </a:p>
        </p:txBody>
      </p:sp>
    </p:spTree>
    <p:extLst>
      <p:ext uri="{BB962C8B-B14F-4D97-AF65-F5344CB8AC3E}">
        <p14:creationId xmlns:p14="http://schemas.microsoft.com/office/powerpoint/2010/main" val="41326733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F1237-64C6-0E19-79F4-00C49707E502}"/>
              </a:ext>
            </a:extLst>
          </p:cNvPr>
          <p:cNvSpPr>
            <a:spLocks noGrp="1"/>
          </p:cNvSpPr>
          <p:nvPr>
            <p:ph type="title"/>
          </p:nvPr>
        </p:nvSpPr>
        <p:spPr/>
        <p:txBody>
          <a:bodyPr/>
          <a:lstStyle/>
          <a:p>
            <a:r>
              <a:rPr lang="en-US" sz="4200" b="1">
                <a:latin typeface="Century Gothic"/>
                <a:ea typeface="Century Gothic"/>
                <a:cs typeface="Century Gothic"/>
              </a:rPr>
              <a:t>Conclusion</a:t>
            </a:r>
            <a:endParaRPr lang="en-US"/>
          </a:p>
        </p:txBody>
      </p:sp>
      <p:sp>
        <p:nvSpPr>
          <p:cNvPr id="3" name="Text Placeholder 2">
            <a:extLst>
              <a:ext uri="{FF2B5EF4-FFF2-40B4-BE49-F238E27FC236}">
                <a16:creationId xmlns:a16="http://schemas.microsoft.com/office/drawing/2014/main" id="{8A0FD33F-5D3D-EAC8-B14C-77E257EC2B64}"/>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The presentation covers the strategic insights by </a:t>
            </a:r>
            <a:r>
              <a:rPr lang="en-US" dirty="0" err="1">
                <a:latin typeface="Calibri"/>
                <a:ea typeface="Calibri"/>
                <a:cs typeface="Calibri"/>
              </a:rPr>
              <a:t>analysing</a:t>
            </a:r>
            <a:r>
              <a:rPr lang="en-US" dirty="0">
                <a:latin typeface="Calibri"/>
                <a:ea typeface="Calibri"/>
                <a:cs typeface="Calibri"/>
              </a:rPr>
              <a:t> various aspects such as price range, customer ratings, average cost per two persons, votes etc.</a:t>
            </a:r>
            <a:endParaRPr lang="en-US" dirty="0"/>
          </a:p>
          <a:p>
            <a:r>
              <a:rPr lang="en-US" dirty="0">
                <a:latin typeface="Calibri"/>
                <a:ea typeface="Calibri"/>
                <a:cs typeface="Calibri"/>
              </a:rPr>
              <a:t>The objective and subjective questions raised from the tasks has been addressed by using dashboards with multiple visuals such as line charts, column charts, slicers and timelines. </a:t>
            </a:r>
            <a:endParaRPr lang="en-US" dirty="0"/>
          </a:p>
          <a:p>
            <a:r>
              <a:rPr lang="en-US" dirty="0">
                <a:latin typeface="Calibri"/>
                <a:ea typeface="Calibri"/>
                <a:cs typeface="Calibri"/>
              </a:rPr>
              <a:t>The country slicer and date timeline will help us to visualize the required data in terms of the countries, days, months, quarters and years.</a:t>
            </a:r>
            <a:endParaRPr lang="en-US" dirty="0"/>
          </a:p>
          <a:p>
            <a:r>
              <a:rPr lang="en-US" dirty="0">
                <a:latin typeface="Calibri"/>
                <a:ea typeface="Calibri"/>
                <a:cs typeface="Calibri"/>
              </a:rPr>
              <a:t>Forecasting has been done to see how many restaurants will be opened year-wise in the future</a:t>
            </a:r>
            <a:endParaRPr lang="en-US" dirty="0"/>
          </a:p>
          <a:p>
            <a:r>
              <a:rPr lang="en-US" dirty="0">
                <a:latin typeface="Calibri"/>
                <a:ea typeface="Calibri"/>
                <a:cs typeface="Calibri"/>
              </a:rPr>
              <a:t>Other concerns such as cuisines being affected by ratings, ratings in accordance with the total votes have also been addressed in the attached spreadsheet file.</a:t>
            </a:r>
            <a:endParaRPr lang="en-US" dirty="0"/>
          </a:p>
          <a:p>
            <a:endParaRPr lang="en-US" dirty="0"/>
          </a:p>
        </p:txBody>
      </p:sp>
    </p:spTree>
    <p:extLst>
      <p:ext uri="{BB962C8B-B14F-4D97-AF65-F5344CB8AC3E}">
        <p14:creationId xmlns:p14="http://schemas.microsoft.com/office/powerpoint/2010/main" val="4233796167"/>
      </p:ext>
    </p:extLst>
  </p:cSld>
  <p:clrMapOvr>
    <a:masterClrMapping/>
  </p:clrMapOvr>
</p:sld>
</file>

<file path=ppt/theme/theme1.xml><?xml version="1.0" encoding="utf-8"?>
<a:theme xmlns:a="http://schemas.openxmlformats.org/drawingml/2006/main" name="AlignmentVTI">
  <a:themeElements>
    <a:clrScheme name="Alignment">
      <a:dk1>
        <a:sysClr val="windowText" lastClr="000000"/>
      </a:dk1>
      <a:lt1>
        <a:sysClr val="window" lastClr="FFFFFF"/>
      </a:lt1>
      <a:dk2>
        <a:srgbClr val="3B3D38"/>
      </a:dk2>
      <a:lt2>
        <a:srgbClr val="F7F2EE"/>
      </a:lt2>
      <a:accent1>
        <a:srgbClr val="928A63"/>
      </a:accent1>
      <a:accent2>
        <a:srgbClr val="B57B6B"/>
      </a:accent2>
      <a:accent3>
        <a:srgbClr val="9E8484"/>
      </a:accent3>
      <a:accent4>
        <a:srgbClr val="7C8A75"/>
      </a:accent4>
      <a:accent5>
        <a:srgbClr val="8C8578"/>
      </a:accent5>
      <a:accent6>
        <a:srgbClr val="A18563"/>
      </a:accent6>
      <a:hlink>
        <a:srgbClr val="B57B6B"/>
      </a:hlink>
      <a:folHlink>
        <a:srgbClr val="7C8A75"/>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AlignmentVTI</vt:lpstr>
      <vt:lpstr>ZOMATO RESTAURANT ANALYSIS  </vt:lpstr>
      <vt:lpstr> NTRODUCTION AND OBJECTIVES </vt:lpstr>
      <vt:lpstr>Data Overview</vt:lpstr>
      <vt:lpstr>Data Dictionary</vt:lpstr>
      <vt:lpstr>PowerPoint Presentation</vt:lpstr>
      <vt:lpstr> Methodology </vt:lpstr>
      <vt:lpstr> Methodology </vt:lpstr>
      <vt:lpstr>  </vt:lpstr>
      <vt:lpstr>DATA ANALYSIS AND INSIGHTS</vt:lpstr>
      <vt:lpstr>Number of Restaurants in each country</vt:lpstr>
      <vt:lpstr>Restaurants Opened Year-wise  </vt:lpstr>
      <vt:lpstr>Restaurants Opened Month-wise</vt:lpstr>
      <vt:lpstr>Top 10 Cuisines</vt:lpstr>
      <vt:lpstr>Average Cost per two (INR) across countries  </vt:lpstr>
      <vt:lpstr>Table Booking Distribution  </vt:lpstr>
      <vt:lpstr>Online Delivery Distribution  </vt:lpstr>
      <vt:lpstr>Suggested cities to open new restaurants</vt:lpstr>
      <vt:lpstr>SUGGESTIONS AND RECOMMENDATIONS  </vt:lpstr>
      <vt:lpstr>Suggestions for Opening New Restaurants  </vt:lpstr>
      <vt:lpstr>PowerPoint Presentation</vt:lpstr>
      <vt:lpstr>Recommendations for Opening New Restaurants  </vt:lpstr>
      <vt:lpstr>PowerPoint Presentation</vt:lpstr>
      <vt:lpstr>Suggestions for Opening New Restaurants based on cost and rating  </vt:lpstr>
      <vt:lpstr>PowerPoint Presentation</vt:lpstr>
      <vt:lpstr>Suggestions for Opening New Restaurants  </vt:lpstr>
      <vt:lpstr>Competitor Analysis based on Average Cost  </vt:lpstr>
      <vt:lpstr>Comparision of average cost</vt:lpstr>
      <vt:lpstr>Competitor Analysis based on Average Rating  </vt:lpstr>
      <vt:lpstr>Competitor Analysis based on Average Rating  </vt:lpstr>
      <vt:lpstr>Suggestions – Price Range for the upcoming Restaurants</vt:lpstr>
      <vt:lpstr>STRATEGIC RECOMMENDATIONS</vt:lpstr>
      <vt:lpstr>Recommendations based on factors</vt:lpstr>
      <vt:lpstr>Recommended Cuisines  </vt:lpstr>
      <vt:lpstr>Recommendations for Table Booking</vt:lpstr>
      <vt:lpstr>Recommendations for Online Delivery</vt:lpstr>
      <vt:lpstr>Recommendations for Improving Customer Rating  </vt:lpstr>
      <vt:lpstr>Recommendations for Improving Votes and Ratings   </vt:lpstr>
      <vt:lpstr>DASHBOARD AND VISUALIZATIONS</vt:lpstr>
      <vt:lpstr>Dashboard and Visualizations</vt:lpstr>
      <vt:lpstr>Dashboard and Visualizations</vt:lpstr>
      <vt:lpstr>Dashboard and Visualizations  </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444</cp:revision>
  <dcterms:created xsi:type="dcterms:W3CDTF">2025-09-19T06:46:50Z</dcterms:created>
  <dcterms:modified xsi:type="dcterms:W3CDTF">2025-09-20T11:16:06Z</dcterms:modified>
</cp:coreProperties>
</file>